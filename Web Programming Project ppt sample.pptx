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408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761"/>
            <a:ext cx="2851530" cy="685876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182880" y="0"/>
                </a:moveTo>
                <a:lnTo>
                  <a:pt x="0" y="0"/>
                </a:lnTo>
                <a:lnTo>
                  <a:pt x="0" y="6858000"/>
                </a:lnTo>
                <a:lnTo>
                  <a:pt x="182880" y="6858000"/>
                </a:lnTo>
                <a:lnTo>
                  <a:pt x="182880" y="0"/>
                </a:lnTo>
                <a:close/>
              </a:path>
            </a:pathLst>
          </a:custGeom>
          <a:solidFill>
            <a:srgbClr val="766E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4323841"/>
            <a:ext cx="1742439" cy="778510"/>
          </a:xfrm>
          <a:custGeom>
            <a:avLst/>
            <a:gdLst/>
            <a:ahLst/>
            <a:cxnLst/>
            <a:rect l="l" t="t" r="r" b="b"/>
            <a:pathLst>
              <a:path w="1742439" h="778510">
                <a:moveTo>
                  <a:pt x="1345946" y="0"/>
                </a:moveTo>
                <a:lnTo>
                  <a:pt x="0" y="0"/>
                </a:lnTo>
                <a:lnTo>
                  <a:pt x="0" y="778509"/>
                </a:lnTo>
                <a:lnTo>
                  <a:pt x="1345946" y="778509"/>
                </a:lnTo>
                <a:lnTo>
                  <a:pt x="1355637" y="777704"/>
                </a:lnTo>
                <a:lnTo>
                  <a:pt x="1363567" y="775588"/>
                </a:lnTo>
                <a:lnTo>
                  <a:pt x="1369734" y="772616"/>
                </a:lnTo>
                <a:lnTo>
                  <a:pt x="1374140" y="769238"/>
                </a:lnTo>
                <a:lnTo>
                  <a:pt x="1374140" y="764539"/>
                </a:lnTo>
                <a:lnTo>
                  <a:pt x="1378839" y="764539"/>
                </a:lnTo>
                <a:lnTo>
                  <a:pt x="1735327" y="408050"/>
                </a:lnTo>
                <a:lnTo>
                  <a:pt x="1740542" y="399460"/>
                </a:lnTo>
                <a:lnTo>
                  <a:pt x="1742281" y="388667"/>
                </a:lnTo>
                <a:lnTo>
                  <a:pt x="1740542" y="376993"/>
                </a:lnTo>
                <a:lnTo>
                  <a:pt x="1735327" y="365759"/>
                </a:lnTo>
                <a:lnTo>
                  <a:pt x="1378839" y="14096"/>
                </a:lnTo>
                <a:lnTo>
                  <a:pt x="1378839" y="9397"/>
                </a:lnTo>
                <a:lnTo>
                  <a:pt x="1374140" y="9397"/>
                </a:lnTo>
                <a:lnTo>
                  <a:pt x="1369734" y="5947"/>
                </a:lnTo>
                <a:lnTo>
                  <a:pt x="1363567" y="2936"/>
                </a:lnTo>
                <a:lnTo>
                  <a:pt x="1355637" y="807"/>
                </a:lnTo>
                <a:lnTo>
                  <a:pt x="1345946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601595" y="821562"/>
            <a:ext cx="7196455" cy="3012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25252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5252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5252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5252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-761"/>
            <a:ext cx="2851530" cy="685876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182880" y="0"/>
                </a:moveTo>
                <a:lnTo>
                  <a:pt x="0" y="0"/>
                </a:lnTo>
                <a:lnTo>
                  <a:pt x="0" y="6858000"/>
                </a:lnTo>
                <a:lnTo>
                  <a:pt x="182880" y="6858000"/>
                </a:lnTo>
                <a:lnTo>
                  <a:pt x="182880" y="0"/>
                </a:lnTo>
                <a:close/>
              </a:path>
            </a:pathLst>
          </a:custGeom>
          <a:solidFill>
            <a:srgbClr val="766E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714375"/>
            <a:ext cx="1591945" cy="507365"/>
          </a:xfrm>
          <a:custGeom>
            <a:avLst/>
            <a:gdLst/>
            <a:ahLst/>
            <a:cxnLst/>
            <a:rect l="l" t="t" r="r" b="b"/>
            <a:pathLst>
              <a:path w="1591945" h="507365">
                <a:moveTo>
                  <a:pt x="0" y="0"/>
                </a:moveTo>
                <a:lnTo>
                  <a:pt x="0" y="503820"/>
                </a:lnTo>
                <a:lnTo>
                  <a:pt x="1245438" y="507238"/>
                </a:lnTo>
                <a:lnTo>
                  <a:pt x="1345692" y="507238"/>
                </a:lnTo>
                <a:lnTo>
                  <a:pt x="1351915" y="500888"/>
                </a:lnTo>
                <a:lnTo>
                  <a:pt x="1353820" y="499363"/>
                </a:lnTo>
                <a:lnTo>
                  <a:pt x="1584325" y="268859"/>
                </a:lnTo>
                <a:lnTo>
                  <a:pt x="1589611" y="261695"/>
                </a:lnTo>
                <a:lnTo>
                  <a:pt x="1591373" y="254508"/>
                </a:lnTo>
                <a:lnTo>
                  <a:pt x="1589611" y="247320"/>
                </a:lnTo>
                <a:lnTo>
                  <a:pt x="1584325" y="240157"/>
                </a:lnTo>
                <a:lnTo>
                  <a:pt x="1355344" y="11302"/>
                </a:lnTo>
                <a:lnTo>
                  <a:pt x="1350391" y="11302"/>
                </a:lnTo>
                <a:lnTo>
                  <a:pt x="1350391" y="6476"/>
                </a:lnTo>
                <a:lnTo>
                  <a:pt x="1345692" y="6476"/>
                </a:lnTo>
                <a:lnTo>
                  <a:pt x="1340993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64691" y="96393"/>
            <a:ext cx="5813043" cy="698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25252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12467" y="2124202"/>
            <a:ext cx="9365615" cy="3613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cdnjs.cloudflare.com/" TargetMode="Externa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9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jp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601595" y="821562"/>
            <a:ext cx="7196455" cy="22743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495425">
              <a:lnSpc>
                <a:spcPct val="100000"/>
              </a:lnSpc>
              <a:spcBef>
                <a:spcPts val="95"/>
              </a:spcBef>
            </a:pPr>
            <a:r>
              <a:rPr sz="4900" spc="100" dirty="0"/>
              <a:t>Web</a:t>
            </a:r>
            <a:r>
              <a:rPr sz="4900" spc="-360" dirty="0"/>
              <a:t> </a:t>
            </a:r>
            <a:r>
              <a:rPr sz="4900" spc="-90" dirty="0"/>
              <a:t>Programming </a:t>
            </a:r>
            <a:r>
              <a:rPr sz="4900" spc="-135" dirty="0"/>
              <a:t>Mini</a:t>
            </a:r>
            <a:r>
              <a:rPr sz="4900" spc="-345" dirty="0"/>
              <a:t> </a:t>
            </a:r>
            <a:r>
              <a:rPr sz="4900" spc="-10" dirty="0"/>
              <a:t>Project</a:t>
            </a:r>
            <a:endParaRPr sz="4900" dirty="0"/>
          </a:p>
          <a:p>
            <a:pPr marL="12700" marR="5080">
              <a:lnSpc>
                <a:spcPct val="100000"/>
              </a:lnSpc>
            </a:pPr>
            <a:r>
              <a:rPr lang="en-IN" sz="4900" spc="-415" dirty="0"/>
              <a:t>&lt;Title&gt;</a:t>
            </a:r>
            <a:endParaRPr sz="4900" dirty="0"/>
          </a:p>
        </p:txBody>
      </p:sp>
      <p:sp>
        <p:nvSpPr>
          <p:cNvPr id="3" name="object 3"/>
          <p:cNvSpPr txBox="1"/>
          <p:nvPr/>
        </p:nvSpPr>
        <p:spPr>
          <a:xfrm>
            <a:off x="6705600" y="3884167"/>
            <a:ext cx="4876800" cy="11464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spc="-225" dirty="0">
                <a:solidFill>
                  <a:srgbClr val="585858"/>
                </a:solidFill>
                <a:latin typeface="Verdana"/>
                <a:cs typeface="Verdana"/>
              </a:rPr>
              <a:t>&lt;Name&gt;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spc="-225" dirty="0">
                <a:solidFill>
                  <a:srgbClr val="585858"/>
                </a:solidFill>
                <a:latin typeface="Verdana"/>
                <a:cs typeface="Arial MT"/>
              </a:rPr>
              <a:t>&lt;Reg. No.&gt;</a:t>
            </a:r>
            <a:endParaRPr lang="en-IN" sz="2400" spc="-225" dirty="0">
              <a:solidFill>
                <a:srgbClr val="585858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spc="-225" dirty="0">
                <a:solidFill>
                  <a:srgbClr val="585858"/>
                </a:solidFill>
                <a:latin typeface="Arial MT"/>
                <a:cs typeface="Arial MT"/>
              </a:rPr>
              <a:t>&lt;Department&gt;</a:t>
            </a:r>
            <a:endParaRPr lang="en-IN" sz="2400" spc="-225" dirty="0">
              <a:solidFill>
                <a:srgbClr val="585858"/>
              </a:solidFill>
              <a:latin typeface="Verdana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6661" y="61086"/>
            <a:ext cx="139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HOME</a:t>
            </a:r>
            <a:r>
              <a:rPr sz="1800" u="sng" spc="-4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PAGE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86661" y="4176521"/>
            <a:ext cx="8531860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HTML</a:t>
            </a:r>
            <a:r>
              <a:rPr sz="1800" spc="-1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CSS:</a:t>
            </a:r>
            <a:endParaRPr sz="1800">
              <a:latin typeface="Arial MT"/>
              <a:cs typeface="Arial MT"/>
            </a:endParaRPr>
          </a:p>
          <a:p>
            <a:pPr marL="201930" indent="-193675">
              <a:lnSpc>
                <a:spcPct val="100000"/>
              </a:lnSpc>
              <a:buSzPct val="94444"/>
              <a:buAutoNum type="arabicPeriod"/>
              <a:tabLst>
                <a:tab pos="201930" algn="l"/>
              </a:tabLst>
            </a:pPr>
            <a:r>
              <a:rPr sz="1800" dirty="0">
                <a:latin typeface="Arial MT"/>
                <a:cs typeface="Arial MT"/>
              </a:rPr>
              <a:t>Global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ensures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consistency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*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improves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readability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10" dirty="0">
                <a:latin typeface="Arial MT"/>
                <a:cs typeface="Arial MT"/>
              </a:rPr>
              <a:t> font-family: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'Poppins',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sans-serif.</a:t>
            </a:r>
            <a:endParaRPr sz="1800">
              <a:latin typeface="Arial MT"/>
              <a:cs typeface="Arial MT"/>
            </a:endParaRPr>
          </a:p>
          <a:p>
            <a:pPr marL="12700" marR="167640" indent="-3810">
              <a:lnSpc>
                <a:spcPct val="100000"/>
              </a:lnSpc>
              <a:buSzPct val="94444"/>
              <a:buAutoNum type="arabicPeriod" startAt="2"/>
              <a:tabLst>
                <a:tab pos="202565" algn="l"/>
              </a:tabLst>
            </a:pPr>
            <a:r>
              <a:rPr sz="1800" dirty="0">
                <a:latin typeface="Arial MT"/>
                <a:cs typeface="Arial MT"/>
              </a:rPr>
              <a:t>	Background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layout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background-</a:t>
            </a:r>
            <a:r>
              <a:rPr sz="1800" dirty="0">
                <a:latin typeface="Arial MT"/>
                <a:cs typeface="Arial MT"/>
              </a:rPr>
              <a:t>image: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url(...)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background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dirty="0">
                <a:latin typeface="Arial MT"/>
                <a:cs typeface="Arial MT"/>
              </a:rPr>
              <a:t>display: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flex;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justify-</a:t>
            </a:r>
            <a:r>
              <a:rPr sz="1800" dirty="0">
                <a:latin typeface="Arial MT"/>
                <a:cs typeface="Arial MT"/>
              </a:rPr>
              <a:t>content: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center; </a:t>
            </a:r>
            <a:r>
              <a:rPr sz="1800" spc="-20" dirty="0">
                <a:latin typeface="Arial MT"/>
                <a:cs typeface="Arial MT"/>
              </a:rPr>
              <a:t>align-</a:t>
            </a:r>
            <a:r>
              <a:rPr sz="1800" dirty="0">
                <a:latin typeface="Arial MT"/>
                <a:cs typeface="Arial MT"/>
              </a:rPr>
              <a:t>items: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center; to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center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elements.</a:t>
            </a:r>
            <a:endParaRPr sz="1800">
              <a:latin typeface="Arial MT"/>
              <a:cs typeface="Arial MT"/>
            </a:endParaRPr>
          </a:p>
          <a:p>
            <a:pPr marL="12700" marR="458470" indent="-3810">
              <a:lnSpc>
                <a:spcPct val="100000"/>
              </a:lnSpc>
              <a:buSzPct val="94444"/>
              <a:buAutoNum type="arabicPeriod" startAt="2"/>
              <a:tabLst>
                <a:tab pos="202565" algn="l"/>
              </a:tabLst>
            </a:pPr>
            <a:r>
              <a:rPr sz="1800" dirty="0">
                <a:latin typeface="Arial MT"/>
                <a:cs typeface="Arial MT"/>
              </a:rPr>
              <a:t>	Navigation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menu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remains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buttons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styled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border-</a:t>
            </a:r>
            <a:r>
              <a:rPr sz="1800" dirty="0">
                <a:latin typeface="Arial MT"/>
                <a:cs typeface="Arial MT"/>
              </a:rPr>
              <a:t>radius: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3px;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text- </a:t>
            </a:r>
            <a:r>
              <a:rPr sz="1800" dirty="0">
                <a:latin typeface="Arial MT"/>
                <a:cs typeface="Arial MT"/>
              </a:rPr>
              <a:t>transform: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uppercase.</a:t>
            </a:r>
            <a:endParaRPr sz="1800">
              <a:latin typeface="Arial MT"/>
              <a:cs typeface="Arial MT"/>
            </a:endParaRPr>
          </a:p>
          <a:p>
            <a:pPr marL="201930" indent="-193675">
              <a:lnSpc>
                <a:spcPct val="100000"/>
              </a:lnSpc>
              <a:buSzPct val="94444"/>
              <a:buAutoNum type="arabicPeriod" startAt="2"/>
              <a:tabLst>
                <a:tab pos="201930" algn="l"/>
              </a:tabLst>
            </a:pPr>
            <a:r>
              <a:rPr sz="1800" dirty="0">
                <a:latin typeface="Arial MT"/>
                <a:cs typeface="Arial MT"/>
              </a:rPr>
              <a:t>Hover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animation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effects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applied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transition: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transform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.5s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ease;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for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smooth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interactions.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1375" y="493141"/>
            <a:ext cx="6529197" cy="36276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27961" y="141859"/>
            <a:ext cx="874649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34035" indent="-3810">
              <a:lnSpc>
                <a:spcPct val="100000"/>
              </a:lnSpc>
              <a:spcBef>
                <a:spcPts val="100"/>
              </a:spcBef>
              <a:buSzPct val="94444"/>
              <a:buFont typeface="Arial MT"/>
              <a:buAutoNum type="arabicPeriod" startAt="5"/>
              <a:tabLst>
                <a:tab pos="202565" algn="l"/>
              </a:tabLst>
            </a:pPr>
            <a:r>
              <a:rPr dirty="0"/>
              <a:t>	</a:t>
            </a:r>
            <a:r>
              <a:rPr sz="1800" dirty="0">
                <a:latin typeface="Arial MT"/>
                <a:cs typeface="Arial MT"/>
              </a:rPr>
              <a:t>Responsive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design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managed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@media(max-</a:t>
            </a:r>
            <a:r>
              <a:rPr sz="1800" dirty="0">
                <a:latin typeface="Arial MT"/>
                <a:cs typeface="Arial MT"/>
              </a:rPr>
              <a:t>width:858px)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{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...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}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adapt layout</a:t>
            </a:r>
            <a:endParaRPr sz="1800">
              <a:latin typeface="Arial MT"/>
              <a:cs typeface="Arial MT"/>
            </a:endParaRPr>
          </a:p>
          <a:p>
            <a:pPr marL="12700" marR="235585" indent="-3810">
              <a:lnSpc>
                <a:spcPct val="100000"/>
              </a:lnSpc>
              <a:buSzPct val="94444"/>
              <a:buAutoNum type="arabicPeriod" startAt="5"/>
              <a:tabLst>
                <a:tab pos="202565" algn="l"/>
              </a:tabLst>
            </a:pPr>
            <a:r>
              <a:rPr sz="1800" dirty="0">
                <a:latin typeface="Arial MT"/>
                <a:cs typeface="Arial MT"/>
              </a:rPr>
              <a:t>	Buttons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effects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include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.btn:hover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{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transform: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scale(1.1);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}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interactivity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spc="-10" dirty="0">
                <a:latin typeface="Arial MT"/>
                <a:cs typeface="Arial MT"/>
              </a:rPr>
              <a:t>box-</a:t>
            </a:r>
            <a:r>
              <a:rPr sz="1800" dirty="0">
                <a:latin typeface="Arial MT"/>
                <a:cs typeface="Arial MT"/>
              </a:rPr>
              <a:t>shadow: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3px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3px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10px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rgba(0,0,0,0.5);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effect.</a:t>
            </a:r>
            <a:endParaRPr sz="1800">
              <a:latin typeface="Arial MT"/>
              <a:cs typeface="Arial MT"/>
            </a:endParaRPr>
          </a:p>
          <a:p>
            <a:pPr marL="201295" indent="-193675">
              <a:lnSpc>
                <a:spcPct val="100000"/>
              </a:lnSpc>
              <a:buSzPct val="94444"/>
              <a:buAutoNum type="arabicPeriod" startAt="5"/>
              <a:tabLst>
                <a:tab pos="201295" algn="l"/>
              </a:tabLst>
            </a:pPr>
            <a:r>
              <a:rPr sz="1800" dirty="0">
                <a:latin typeface="Arial MT"/>
                <a:cs typeface="Arial MT"/>
              </a:rPr>
              <a:t>Contact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section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backdrop-</a:t>
            </a:r>
            <a:r>
              <a:rPr sz="1800" dirty="0">
                <a:latin typeface="Arial MT"/>
                <a:cs typeface="Arial MT"/>
              </a:rPr>
              <a:t>filter: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blur(8px);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create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glassmorphism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effect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.contact-</a:t>
            </a:r>
            <a:r>
              <a:rPr sz="1800" dirty="0">
                <a:latin typeface="Arial MT"/>
                <a:cs typeface="Arial MT"/>
              </a:rPr>
              <a:t>form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button:hover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{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background: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linear-</a:t>
            </a:r>
            <a:r>
              <a:rPr sz="1800" dirty="0">
                <a:latin typeface="Arial MT"/>
                <a:cs typeface="Arial MT"/>
              </a:rPr>
              <a:t>gradient(...);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}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enhance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buttons.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1781810" algn="l"/>
              </a:tabLst>
            </a:pP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CONTACT</a:t>
            </a:r>
            <a:r>
              <a:rPr sz="1800" u="sng" spc="-6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US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ABOUT</a:t>
            </a:r>
            <a:r>
              <a:rPr sz="1800" u="sng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US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903" y="2498902"/>
            <a:ext cx="2989833" cy="396354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rcRect t="54592" r="51244"/>
          <a:stretch>
            <a:fillRect/>
          </a:stretch>
        </p:blipFill>
        <p:spPr>
          <a:xfrm>
            <a:off x="5334000" y="3048000"/>
            <a:ext cx="3598546" cy="18510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90089" y="818133"/>
            <a:ext cx="9413875" cy="5208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JAVASCRIPT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LOGIN</a:t>
            </a:r>
            <a:r>
              <a:rPr sz="1700" u="sng" spc="-3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7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IN</a:t>
            </a:r>
            <a:r>
              <a:rPr sz="1700" u="sng" spc="-4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7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FORM</a:t>
            </a:r>
            <a:endParaRPr sz="1700">
              <a:latin typeface="Arial MT"/>
              <a:cs typeface="Arial MT"/>
            </a:endParaRPr>
          </a:p>
          <a:p>
            <a:pPr marL="12700" marR="84455" indent="137160">
              <a:lnSpc>
                <a:spcPct val="100000"/>
              </a:lnSpc>
              <a:buSzPct val="97058"/>
              <a:buChar char="•"/>
              <a:tabLst>
                <a:tab pos="149860" algn="l"/>
              </a:tabLst>
            </a:pPr>
            <a:r>
              <a:rPr sz="1700" dirty="0">
                <a:latin typeface="Arial MT"/>
                <a:cs typeface="Arial MT"/>
              </a:rPr>
              <a:t>toggle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responsive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navigation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uses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JavaScript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handle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hamburger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menu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(check_btn)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for </a:t>
            </a:r>
            <a:r>
              <a:rPr sz="1700" dirty="0">
                <a:latin typeface="Arial MT"/>
                <a:cs typeface="Arial MT"/>
              </a:rPr>
              <a:t>mobile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users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toggles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navigation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visibility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on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click.</a:t>
            </a:r>
            <a:endParaRPr sz="1700">
              <a:latin typeface="Arial MT"/>
              <a:cs typeface="Arial MT"/>
            </a:endParaRPr>
          </a:p>
          <a:p>
            <a:pPr marL="12700" marR="5080" indent="-10160">
              <a:lnSpc>
                <a:spcPct val="100000"/>
              </a:lnSpc>
              <a:buSzPct val="97058"/>
              <a:buChar char="•"/>
              <a:tabLst>
                <a:tab pos="88265" algn="l"/>
              </a:tabLst>
            </a:pPr>
            <a:r>
              <a:rPr sz="1700" dirty="0">
                <a:latin typeface="Arial MT"/>
                <a:cs typeface="Arial MT"/>
              </a:rPr>
              <a:t>	Popup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login/register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form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controlled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by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JavaScript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using document.querySelector(".cover_box").classList.toggle("active-</a:t>
            </a:r>
            <a:r>
              <a:rPr sz="1700" dirty="0">
                <a:latin typeface="Arial MT"/>
                <a:cs typeface="Arial MT"/>
              </a:rPr>
              <a:t>popup")</a:t>
            </a:r>
            <a:r>
              <a:rPr sz="1700" spc="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show or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hide</a:t>
            </a:r>
            <a:r>
              <a:rPr sz="1700" spc="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popup.</a:t>
            </a:r>
            <a:endParaRPr sz="1700">
              <a:latin typeface="Arial MT"/>
              <a:cs typeface="Arial MT"/>
            </a:endParaRPr>
          </a:p>
          <a:p>
            <a:pPr marL="88265" indent="-85725">
              <a:lnSpc>
                <a:spcPct val="100000"/>
              </a:lnSpc>
              <a:buSzPct val="97058"/>
              <a:buChar char="•"/>
              <a:tabLst>
                <a:tab pos="88265" algn="l"/>
              </a:tabLst>
            </a:pPr>
            <a:r>
              <a:rPr sz="1700" dirty="0">
                <a:latin typeface="Arial MT"/>
                <a:cs typeface="Arial MT"/>
              </a:rPr>
              <a:t>Form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transitions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between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login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register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are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handled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using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10" dirty="0">
                <a:latin typeface="Arial MT"/>
                <a:cs typeface="Arial MT"/>
              </a:rPr>
              <a:t>document.querySelector(".cover_box").classList.toggle("active")</a:t>
            </a:r>
            <a:r>
              <a:rPr sz="1700" spc="10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smooth</a:t>
            </a:r>
            <a:r>
              <a:rPr sz="1700" spc="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switching.</a:t>
            </a:r>
            <a:endParaRPr sz="1700">
              <a:latin typeface="Arial MT"/>
              <a:cs typeface="Arial MT"/>
            </a:endParaRPr>
          </a:p>
          <a:p>
            <a:pPr marL="12700" marR="1682750" indent="-10160">
              <a:lnSpc>
                <a:spcPct val="100000"/>
              </a:lnSpc>
              <a:buSzPct val="97058"/>
              <a:buChar char="•"/>
              <a:tabLst>
                <a:tab pos="88265" algn="l"/>
              </a:tabLst>
            </a:pPr>
            <a:r>
              <a:rPr sz="1700" dirty="0">
                <a:latin typeface="Arial MT"/>
                <a:cs typeface="Arial MT"/>
              </a:rPr>
              <a:t>	Close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button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functionality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added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with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document.querySelector(".icon- close").addEventListener("click",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function()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{...})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 close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 popup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when </a:t>
            </a:r>
            <a:r>
              <a:rPr sz="1700" spc="-10" dirty="0">
                <a:latin typeface="Arial MT"/>
                <a:cs typeface="Arial MT"/>
              </a:rPr>
              <a:t>clicked.</a:t>
            </a:r>
            <a:endParaRPr sz="1700">
              <a:latin typeface="Arial MT"/>
              <a:cs typeface="Arial MT"/>
            </a:endParaRPr>
          </a:p>
          <a:p>
            <a:pPr marL="12700" marR="601980" indent="-10160">
              <a:lnSpc>
                <a:spcPct val="100000"/>
              </a:lnSpc>
              <a:buSzPct val="97058"/>
              <a:buChar char="•"/>
              <a:tabLst>
                <a:tab pos="88265" algn="l"/>
              </a:tabLst>
            </a:pPr>
            <a:r>
              <a:rPr sz="1700" dirty="0">
                <a:latin typeface="Arial MT"/>
                <a:cs typeface="Arial MT"/>
              </a:rPr>
              <a:t>	Login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form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validation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checks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if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email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password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fields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are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correctly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filled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before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allowing submission.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CONTACT</a:t>
            </a:r>
            <a:r>
              <a:rPr sz="1700" u="sng" spc="-5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7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US</a:t>
            </a:r>
            <a:r>
              <a:rPr sz="1700" u="sng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7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SECTION</a:t>
            </a:r>
            <a:endParaRPr sz="1700">
              <a:latin typeface="Arial MT"/>
              <a:cs typeface="Arial MT"/>
            </a:endParaRPr>
          </a:p>
          <a:p>
            <a:pPr marL="12700" marR="1036955" indent="-10160">
              <a:lnSpc>
                <a:spcPct val="100000"/>
              </a:lnSpc>
              <a:buSzPct val="97058"/>
              <a:buChar char="•"/>
              <a:tabLst>
                <a:tab pos="88265" algn="l"/>
              </a:tabLst>
            </a:pPr>
            <a:r>
              <a:rPr sz="1700" dirty="0">
                <a:latin typeface="Arial MT"/>
                <a:cs typeface="Arial MT"/>
              </a:rPr>
              <a:t>	Contact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section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animation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ensures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section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appears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smoothly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after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page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load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using setTimeout.</a:t>
            </a:r>
            <a:endParaRPr sz="1700">
              <a:latin typeface="Arial MT"/>
              <a:cs typeface="Arial MT"/>
            </a:endParaRPr>
          </a:p>
          <a:p>
            <a:pPr marL="88265" indent="-85725">
              <a:lnSpc>
                <a:spcPct val="100000"/>
              </a:lnSpc>
              <a:buSzPct val="97058"/>
              <a:buChar char="•"/>
              <a:tabLst>
                <a:tab pos="88265" algn="l"/>
              </a:tabLst>
            </a:pPr>
            <a:r>
              <a:rPr sz="1700" dirty="0">
                <a:latin typeface="Arial MT"/>
                <a:cs typeface="Arial MT"/>
              </a:rPr>
              <a:t>Checks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empty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field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using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“trim()”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shows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alert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message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if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not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filled.</a:t>
            </a:r>
            <a:endParaRPr sz="1700">
              <a:latin typeface="Arial MT"/>
              <a:cs typeface="Arial MT"/>
            </a:endParaRPr>
          </a:p>
          <a:p>
            <a:pPr marL="12700" marR="1083945" indent="-10160">
              <a:lnSpc>
                <a:spcPct val="100000"/>
              </a:lnSpc>
              <a:buSzPct val="97058"/>
              <a:buChar char="•"/>
              <a:tabLst>
                <a:tab pos="88265" algn="l"/>
              </a:tabLst>
            </a:pPr>
            <a:r>
              <a:rPr sz="1700" dirty="0">
                <a:latin typeface="Arial MT"/>
                <a:cs typeface="Arial MT"/>
              </a:rPr>
              <a:t>	JavaScript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dynamically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adds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or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removes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CSS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classes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enable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smooth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UI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effects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like </a:t>
            </a:r>
            <a:r>
              <a:rPr sz="1700" dirty="0">
                <a:latin typeface="Arial MT"/>
                <a:cs typeface="Arial MT"/>
              </a:rPr>
              <a:t>animations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transitions.</a:t>
            </a:r>
            <a:endParaRPr sz="1700">
              <a:latin typeface="Arial MT"/>
              <a:cs typeface="Arial MT"/>
            </a:endParaRPr>
          </a:p>
          <a:p>
            <a:pPr marL="88265" indent="-85725">
              <a:lnSpc>
                <a:spcPct val="100000"/>
              </a:lnSpc>
              <a:buSzPct val="97058"/>
              <a:buChar char="•"/>
              <a:tabLst>
                <a:tab pos="88265" algn="l"/>
              </a:tabLst>
            </a:pPr>
            <a:r>
              <a:rPr sz="1700" dirty="0">
                <a:latin typeface="Arial MT"/>
                <a:cs typeface="Arial MT"/>
              </a:rPr>
              <a:t>JavaScript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enhances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user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interactivity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by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preventing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default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actions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improving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form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handling.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41119" y="4267255"/>
            <a:ext cx="8803005" cy="223837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20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 MT"/>
                <a:cs typeface="Arial MT"/>
              </a:rPr>
              <a:t>JAVASCRIPT</a:t>
            </a:r>
            <a:endParaRPr sz="20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240029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Input</a:t>
            </a:r>
            <a:r>
              <a:rPr sz="16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Field</a:t>
            </a:r>
            <a:r>
              <a:rPr sz="16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Toggle</a:t>
            </a:r>
            <a:r>
              <a:rPr sz="1600" b="1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Functions</a:t>
            </a:r>
            <a:endParaRPr sz="1600">
              <a:latin typeface="Arial"/>
              <a:cs typeface="Arial"/>
            </a:endParaRPr>
          </a:p>
          <a:p>
            <a:pPr marL="354965" lvl="1" indent="-342265">
              <a:lnSpc>
                <a:spcPts val="1730"/>
              </a:lnSpc>
              <a:spcBef>
                <a:spcPts val="610"/>
              </a:spcBef>
              <a:buClr>
                <a:srgbClr val="A42F0F"/>
              </a:buClr>
              <a:buChar char="•"/>
              <a:tabLst>
                <a:tab pos="354965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These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functions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show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or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hide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input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fields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when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clicked,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making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interface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clean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user-</a:t>
            </a:r>
            <a:endParaRPr sz="1600">
              <a:latin typeface="Arial MT"/>
              <a:cs typeface="Arial MT"/>
            </a:endParaRPr>
          </a:p>
          <a:p>
            <a:pPr marL="355600">
              <a:lnSpc>
                <a:spcPts val="1730"/>
              </a:lnSpc>
            </a:pP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friendly.</a:t>
            </a:r>
            <a:endParaRPr sz="1600">
              <a:latin typeface="Arial MT"/>
              <a:cs typeface="Arial MT"/>
            </a:endParaRPr>
          </a:p>
          <a:p>
            <a:pPr marL="354965" lvl="1" indent="-342265">
              <a:lnSpc>
                <a:spcPct val="100000"/>
              </a:lnSpc>
              <a:spcBef>
                <a:spcPts val="625"/>
              </a:spcBef>
              <a:buClr>
                <a:srgbClr val="A42F0F"/>
              </a:buClr>
              <a:buFont typeface="Arial MT"/>
              <a:buChar char="•"/>
              <a:tabLst>
                <a:tab pos="354965" algn="l"/>
              </a:tabLst>
            </a:pP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toggleSearch(id):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Toggles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visibility</a:t>
            </a:r>
            <a:r>
              <a:rPr sz="16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of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city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search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bars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for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selecting</a:t>
            </a:r>
            <a:r>
              <a:rPr sz="16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"From"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"To"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locations.</a:t>
            </a:r>
            <a:endParaRPr sz="1600">
              <a:latin typeface="Arial MT"/>
              <a:cs typeface="Arial MT"/>
            </a:endParaRPr>
          </a:p>
          <a:p>
            <a:pPr marL="354965" lvl="1" indent="-342265">
              <a:lnSpc>
                <a:spcPct val="100000"/>
              </a:lnSpc>
              <a:spcBef>
                <a:spcPts val="615"/>
              </a:spcBef>
              <a:buClr>
                <a:srgbClr val="A42F0F"/>
              </a:buClr>
              <a:buFont typeface="Arial MT"/>
              <a:buChar char="•"/>
              <a:tabLst>
                <a:tab pos="354965" algn="l"/>
              </a:tabLst>
            </a:pP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toggleDatePicker(id):</a:t>
            </a:r>
            <a:r>
              <a:rPr sz="1600" b="1" spc="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Displays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or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hides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date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picker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for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selecting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departure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date.</a:t>
            </a:r>
            <a:endParaRPr sz="1600">
              <a:latin typeface="Arial MT"/>
              <a:cs typeface="Arial MT"/>
            </a:endParaRPr>
          </a:p>
          <a:p>
            <a:pPr marL="354965" lvl="1" indent="-342265">
              <a:lnSpc>
                <a:spcPct val="100000"/>
              </a:lnSpc>
              <a:spcBef>
                <a:spcPts val="610"/>
              </a:spcBef>
              <a:buClr>
                <a:srgbClr val="A42F0F"/>
              </a:buClr>
              <a:buFont typeface="Arial MT"/>
              <a:buChar char="•"/>
              <a:tabLst>
                <a:tab pos="354965" algn="l"/>
              </a:tabLst>
            </a:pP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toggleTravellerInput(id):</a:t>
            </a:r>
            <a:r>
              <a:rPr sz="16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Toggles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input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box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for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selecting</a:t>
            </a:r>
            <a:r>
              <a:rPr sz="1600" spc="-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number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of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travelers.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1542" y="0"/>
            <a:ext cx="7695310" cy="43262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79802" y="69056"/>
            <a:ext cx="9395460" cy="446214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13995" indent="-205104">
              <a:lnSpc>
                <a:spcPct val="100000"/>
              </a:lnSpc>
              <a:spcBef>
                <a:spcPts val="1100"/>
              </a:spcBef>
              <a:buClr>
                <a:srgbClr val="404040"/>
              </a:buClr>
              <a:buSzPct val="94444"/>
              <a:buFont typeface="Arial MT"/>
              <a:buAutoNum type="arabicParenR" startAt="2"/>
              <a:tabLst>
                <a:tab pos="213995" algn="l"/>
              </a:tabLst>
            </a:pP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Formats</a:t>
            </a:r>
            <a:r>
              <a:rPr sz="18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and</a:t>
            </a:r>
            <a:r>
              <a:rPr sz="18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updates</a:t>
            </a:r>
            <a:r>
              <a:rPr sz="18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sz="1800" b="1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departure</a:t>
            </a:r>
            <a:r>
              <a:rPr sz="1800" b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date</a:t>
            </a:r>
            <a:r>
              <a:rPr sz="1800" b="1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dynamically</a:t>
            </a:r>
            <a:r>
              <a:rPr sz="1800" b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using: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document.getElementById('departureDate').addEventListener('change',</a:t>
            </a:r>
            <a:r>
              <a:rPr sz="1800" spc="4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function()</a:t>
            </a:r>
            <a:endParaRPr sz="1800">
              <a:latin typeface="Arial MT"/>
              <a:cs typeface="Arial MT"/>
            </a:endParaRPr>
          </a:p>
          <a:p>
            <a:pPr marL="278765" indent="-266065">
              <a:lnSpc>
                <a:spcPct val="100000"/>
              </a:lnSpc>
              <a:spcBef>
                <a:spcPts val="1010"/>
              </a:spcBef>
              <a:buSzPct val="94444"/>
              <a:buFont typeface="Arial MT"/>
              <a:buAutoNum type="arabicParenR" startAt="3"/>
              <a:tabLst>
                <a:tab pos="278765" algn="l"/>
              </a:tabLst>
            </a:pP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Traveler</a:t>
            </a:r>
            <a:r>
              <a:rPr sz="1800" b="1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Count</a:t>
            </a:r>
            <a:r>
              <a:rPr sz="1800" b="1" spc="-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Selection:</a:t>
            </a:r>
            <a:endParaRPr sz="1800">
              <a:latin typeface="Arial"/>
              <a:cs typeface="Arial"/>
            </a:endParaRPr>
          </a:p>
          <a:p>
            <a:pPr marL="354965" lvl="1" indent="-342265">
              <a:lnSpc>
                <a:spcPct val="100000"/>
              </a:lnSpc>
              <a:spcBef>
                <a:spcPts val="994"/>
              </a:spcBef>
              <a:buClr>
                <a:srgbClr val="A42F0F"/>
              </a:buClr>
              <a:buChar char="•"/>
              <a:tabLst>
                <a:tab pos="354965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Updates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number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of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travelers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when</a:t>
            </a:r>
            <a:r>
              <a:rPr sz="1800" spc="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changed.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42900" algn="l"/>
              </a:tabLst>
            </a:pP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4)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Fare</a:t>
            </a:r>
            <a:r>
              <a:rPr sz="18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Selection</a:t>
            </a:r>
            <a:r>
              <a:rPr sz="18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Highlighting</a:t>
            </a:r>
            <a:endParaRPr sz="18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010"/>
              </a:spcBef>
              <a:buClr>
                <a:srgbClr val="A42F0F"/>
              </a:buClr>
              <a:buChar char="•"/>
              <a:tabLst>
                <a:tab pos="3556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Allows</a:t>
            </a:r>
            <a:r>
              <a:rPr sz="1800" spc="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users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select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special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fare</a:t>
            </a:r>
            <a:r>
              <a:rPr sz="18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type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(e.g.,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Student,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Senior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Citizen)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highlights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the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selected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option.</a:t>
            </a: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A42F0F"/>
              </a:buClr>
              <a:buChar char="•"/>
              <a:tabLst>
                <a:tab pos="354965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When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radio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button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is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selected,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selected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fare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type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is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highlighted</a:t>
            </a:r>
            <a:r>
              <a:rPr sz="1800" spc="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while</a:t>
            </a:r>
            <a:r>
              <a:rPr sz="1800" spc="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others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are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deselected.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5)</a:t>
            </a:r>
            <a:r>
              <a:rPr sz="18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Transport</a:t>
            </a:r>
            <a:r>
              <a:rPr sz="18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Mode</a:t>
            </a:r>
            <a:r>
              <a:rPr sz="18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Selection</a:t>
            </a:r>
            <a:endParaRPr sz="1800">
              <a:latin typeface="Arial"/>
              <a:cs typeface="Arial"/>
            </a:endParaRPr>
          </a:p>
          <a:p>
            <a:pPr marL="355600" marR="500380" indent="-342900">
              <a:lnSpc>
                <a:spcPct val="100000"/>
              </a:lnSpc>
              <a:spcBef>
                <a:spcPts val="1010"/>
              </a:spcBef>
              <a:buClr>
                <a:srgbClr val="A42F0F"/>
              </a:buClr>
              <a:buChar char="•"/>
              <a:tabLst>
                <a:tab pos="3556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Clicking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on</a:t>
            </a:r>
            <a:r>
              <a:rPr sz="18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any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travel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option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(Flights,</a:t>
            </a:r>
            <a:r>
              <a:rPr sz="1800" spc="-7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Trains,</a:t>
            </a:r>
            <a:r>
              <a:rPr sz="18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Bus,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etc.)</a:t>
            </a:r>
            <a:r>
              <a:rPr sz="18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highlights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8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selected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mode,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giving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users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clear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visual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feedback.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u="sng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My</a:t>
            </a:r>
            <a:r>
              <a:rPr u="sng" spc="-10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 </a:t>
            </a:r>
            <a:r>
              <a:rPr u="sng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trips</a:t>
            </a:r>
            <a:r>
              <a:rPr u="sng" spc="-5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 </a:t>
            </a:r>
            <a:r>
              <a:rPr u="sng" spc="-10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webpage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0511" y="2982339"/>
            <a:ext cx="3321938" cy="387565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499798" y="4623117"/>
            <a:ext cx="1022985" cy="516890"/>
            <a:chOff x="5499798" y="4623117"/>
            <a:chExt cx="1022985" cy="516890"/>
          </a:xfrm>
        </p:grpSpPr>
        <p:sp>
          <p:nvSpPr>
            <p:cNvPr id="5" name="object 5"/>
            <p:cNvSpPr/>
            <p:nvPr/>
          </p:nvSpPr>
          <p:spPr>
            <a:xfrm>
              <a:off x="5507735" y="4631054"/>
              <a:ext cx="1007110" cy="501015"/>
            </a:xfrm>
            <a:custGeom>
              <a:avLst/>
              <a:gdLst/>
              <a:ahLst/>
              <a:cxnLst/>
              <a:rect l="l" t="t" r="r" b="b"/>
              <a:pathLst>
                <a:path w="1007109" h="501014">
                  <a:moveTo>
                    <a:pt x="807974" y="0"/>
                  </a:moveTo>
                  <a:lnTo>
                    <a:pt x="807974" y="125222"/>
                  </a:lnTo>
                  <a:lnTo>
                    <a:pt x="0" y="125222"/>
                  </a:lnTo>
                  <a:lnTo>
                    <a:pt x="0" y="375666"/>
                  </a:lnTo>
                  <a:lnTo>
                    <a:pt x="807974" y="375666"/>
                  </a:lnTo>
                  <a:lnTo>
                    <a:pt x="807974" y="500888"/>
                  </a:lnTo>
                  <a:lnTo>
                    <a:pt x="1006983" y="250444"/>
                  </a:lnTo>
                  <a:lnTo>
                    <a:pt x="807974" y="0"/>
                  </a:lnTo>
                  <a:close/>
                </a:path>
              </a:pathLst>
            </a:custGeom>
            <a:solidFill>
              <a:srgbClr val="6AAC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07735" y="4631054"/>
              <a:ext cx="1007110" cy="501015"/>
            </a:xfrm>
            <a:custGeom>
              <a:avLst/>
              <a:gdLst/>
              <a:ahLst/>
              <a:cxnLst/>
              <a:rect l="l" t="t" r="r" b="b"/>
              <a:pathLst>
                <a:path w="1007109" h="501014">
                  <a:moveTo>
                    <a:pt x="0" y="125222"/>
                  </a:moveTo>
                  <a:lnTo>
                    <a:pt x="807974" y="125222"/>
                  </a:lnTo>
                  <a:lnTo>
                    <a:pt x="807974" y="0"/>
                  </a:lnTo>
                  <a:lnTo>
                    <a:pt x="1006983" y="250444"/>
                  </a:lnTo>
                  <a:lnTo>
                    <a:pt x="807974" y="500888"/>
                  </a:lnTo>
                  <a:lnTo>
                    <a:pt x="807974" y="375666"/>
                  </a:lnTo>
                  <a:lnTo>
                    <a:pt x="0" y="375666"/>
                  </a:lnTo>
                  <a:lnTo>
                    <a:pt x="0" y="125222"/>
                  </a:lnTo>
                  <a:close/>
                </a:path>
              </a:pathLst>
            </a:custGeom>
            <a:ln w="15874">
              <a:solidFill>
                <a:srgbClr val="2846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682495" y="882777"/>
            <a:ext cx="7477125" cy="5934710"/>
            <a:chOff x="1682495" y="882777"/>
            <a:chExt cx="7477125" cy="593471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4049" y="3108756"/>
              <a:ext cx="3207893" cy="37081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82495" y="882777"/>
              <a:ext cx="7476870" cy="205092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99916" y="1706880"/>
              <a:ext cx="470915" cy="164744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938269" y="1797938"/>
              <a:ext cx="342265" cy="1497330"/>
            </a:xfrm>
            <a:custGeom>
              <a:avLst/>
              <a:gdLst/>
              <a:ahLst/>
              <a:cxnLst/>
              <a:rect l="l" t="t" r="r" b="b"/>
              <a:pathLst>
                <a:path w="342264" h="1497329">
                  <a:moveTo>
                    <a:pt x="293957" y="72409"/>
                  </a:moveTo>
                  <a:lnTo>
                    <a:pt x="0" y="1488439"/>
                  </a:lnTo>
                  <a:lnTo>
                    <a:pt x="3937" y="1494282"/>
                  </a:lnTo>
                  <a:lnTo>
                    <a:pt x="15875" y="1496822"/>
                  </a:lnTo>
                  <a:lnTo>
                    <a:pt x="21716" y="1492885"/>
                  </a:lnTo>
                  <a:lnTo>
                    <a:pt x="22987" y="1486915"/>
                  </a:lnTo>
                  <a:lnTo>
                    <a:pt x="315806" y="76950"/>
                  </a:lnTo>
                  <a:lnTo>
                    <a:pt x="293957" y="72409"/>
                  </a:lnTo>
                  <a:close/>
                </a:path>
                <a:path w="342264" h="1497329">
                  <a:moveTo>
                    <a:pt x="333605" y="50037"/>
                  </a:moveTo>
                  <a:lnTo>
                    <a:pt x="303656" y="50037"/>
                  </a:lnTo>
                  <a:lnTo>
                    <a:pt x="315721" y="52577"/>
                  </a:lnTo>
                  <a:lnTo>
                    <a:pt x="319531" y="58420"/>
                  </a:lnTo>
                  <a:lnTo>
                    <a:pt x="318388" y="64515"/>
                  </a:lnTo>
                  <a:lnTo>
                    <a:pt x="315806" y="76950"/>
                  </a:lnTo>
                  <a:lnTo>
                    <a:pt x="342138" y="82423"/>
                  </a:lnTo>
                  <a:lnTo>
                    <a:pt x="333605" y="50037"/>
                  </a:lnTo>
                  <a:close/>
                </a:path>
                <a:path w="342264" h="1497329">
                  <a:moveTo>
                    <a:pt x="303656" y="50037"/>
                  </a:moveTo>
                  <a:lnTo>
                    <a:pt x="297814" y="53975"/>
                  </a:lnTo>
                  <a:lnTo>
                    <a:pt x="296544" y="59944"/>
                  </a:lnTo>
                  <a:lnTo>
                    <a:pt x="293957" y="72409"/>
                  </a:lnTo>
                  <a:lnTo>
                    <a:pt x="315806" y="76950"/>
                  </a:lnTo>
                  <a:lnTo>
                    <a:pt x="318388" y="64515"/>
                  </a:lnTo>
                  <a:lnTo>
                    <a:pt x="319531" y="58420"/>
                  </a:lnTo>
                  <a:lnTo>
                    <a:pt x="315721" y="52577"/>
                  </a:lnTo>
                  <a:lnTo>
                    <a:pt x="303656" y="50037"/>
                  </a:lnTo>
                  <a:close/>
                </a:path>
                <a:path w="342264" h="1497329">
                  <a:moveTo>
                    <a:pt x="320420" y="0"/>
                  </a:moveTo>
                  <a:lnTo>
                    <a:pt x="267588" y="66928"/>
                  </a:lnTo>
                  <a:lnTo>
                    <a:pt x="293957" y="72409"/>
                  </a:lnTo>
                  <a:lnTo>
                    <a:pt x="296544" y="59944"/>
                  </a:lnTo>
                  <a:lnTo>
                    <a:pt x="297814" y="53975"/>
                  </a:lnTo>
                  <a:lnTo>
                    <a:pt x="303656" y="50037"/>
                  </a:lnTo>
                  <a:lnTo>
                    <a:pt x="333605" y="50037"/>
                  </a:lnTo>
                  <a:lnTo>
                    <a:pt x="320420" y="0"/>
                  </a:lnTo>
                  <a:close/>
                </a:path>
              </a:pathLst>
            </a:custGeom>
            <a:solidFill>
              <a:srgbClr val="A42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4354" y="971499"/>
            <a:ext cx="21824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175" dirty="0">
                <a:uFill>
                  <a:solidFill>
                    <a:srgbClr val="252525"/>
                  </a:solidFill>
                </a:uFill>
              </a:rPr>
              <a:t>HTML</a:t>
            </a:r>
            <a:r>
              <a:rPr sz="2400" u="sng" spc="-170" dirty="0">
                <a:uFill>
                  <a:solidFill>
                    <a:srgbClr val="252525"/>
                  </a:solidFill>
                </a:uFill>
              </a:rPr>
              <a:t> </a:t>
            </a:r>
            <a:r>
              <a:rPr sz="2400" u="sng" dirty="0">
                <a:uFill>
                  <a:solidFill>
                    <a:srgbClr val="252525"/>
                  </a:solidFill>
                </a:uFill>
              </a:rPr>
              <a:t>AND</a:t>
            </a:r>
            <a:r>
              <a:rPr sz="2400" u="sng" spc="-180" dirty="0">
                <a:uFill>
                  <a:solidFill>
                    <a:srgbClr val="252525"/>
                  </a:solidFill>
                </a:uFill>
              </a:rPr>
              <a:t> </a:t>
            </a:r>
            <a:r>
              <a:rPr sz="2400" u="sng" spc="-170" dirty="0">
                <a:uFill>
                  <a:solidFill>
                    <a:srgbClr val="252525"/>
                  </a:solidFill>
                </a:uFill>
              </a:rPr>
              <a:t>CSS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 indent="-88900">
              <a:lnSpc>
                <a:spcPct val="100000"/>
              </a:lnSpc>
              <a:spcBef>
                <a:spcPts val="100"/>
              </a:spcBef>
              <a:buSzPct val="94444"/>
              <a:buFont typeface="Arial MT"/>
              <a:buChar char="•"/>
              <a:tabLst>
                <a:tab pos="146685" algn="l"/>
              </a:tabLst>
            </a:pPr>
            <a:r>
              <a:rPr b="1" dirty="0">
                <a:latin typeface="Arial"/>
                <a:cs typeface="Arial"/>
              </a:rPr>
              <a:t>header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section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contains</a:t>
            </a:r>
            <a:r>
              <a:rPr spc="-2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logo,</a:t>
            </a:r>
            <a:r>
              <a:rPr spc="-30" dirty="0"/>
              <a:t> </a:t>
            </a:r>
            <a:r>
              <a:rPr dirty="0"/>
              <a:t>slogan,</a:t>
            </a:r>
            <a:r>
              <a:rPr spc="-20" dirty="0"/>
              <a:t> </a:t>
            </a:r>
            <a:r>
              <a:rPr dirty="0"/>
              <a:t>profile</a:t>
            </a:r>
            <a:r>
              <a:rPr spc="-20" dirty="0"/>
              <a:t> </a:t>
            </a:r>
            <a:r>
              <a:rPr dirty="0"/>
              <a:t>button,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language</a:t>
            </a:r>
            <a:r>
              <a:rPr spc="-10" dirty="0"/>
              <a:t> selection</a:t>
            </a:r>
          </a:p>
          <a:p>
            <a:pPr marL="146685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146685" algn="l"/>
              </a:tabLst>
            </a:pPr>
            <a:r>
              <a:rPr b="1" dirty="0">
                <a:latin typeface="Arial"/>
                <a:cs typeface="Arial"/>
              </a:rPr>
              <a:t>input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fields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dirty="0"/>
              <a:t>allow users</a:t>
            </a:r>
            <a:r>
              <a:rPr spc="-2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enter</a:t>
            </a:r>
            <a:r>
              <a:rPr spc="-20" dirty="0"/>
              <a:t> </a:t>
            </a:r>
            <a:r>
              <a:rPr dirty="0"/>
              <a:t>trip</a:t>
            </a:r>
            <a:r>
              <a:rPr spc="-30" dirty="0"/>
              <a:t> </a:t>
            </a:r>
            <a:r>
              <a:rPr dirty="0"/>
              <a:t>details</a:t>
            </a:r>
            <a:r>
              <a:rPr spc="-20" dirty="0"/>
              <a:t> </a:t>
            </a:r>
            <a:r>
              <a:rPr dirty="0"/>
              <a:t>like</a:t>
            </a:r>
            <a:r>
              <a:rPr spc="-15" dirty="0"/>
              <a:t> </a:t>
            </a:r>
            <a:r>
              <a:rPr dirty="0"/>
              <a:t>destination,</a:t>
            </a:r>
            <a:r>
              <a:rPr spc="-5" dirty="0"/>
              <a:t> </a:t>
            </a:r>
            <a:r>
              <a:rPr dirty="0"/>
              <a:t>date,</a:t>
            </a:r>
            <a:r>
              <a:rPr spc="-20" dirty="0"/>
              <a:t> </a:t>
            </a:r>
            <a:r>
              <a:rPr dirty="0"/>
              <a:t>members,</a:t>
            </a:r>
            <a:r>
              <a:rPr spc="-2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reminder</a:t>
            </a:r>
          </a:p>
          <a:p>
            <a:pPr marL="146685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146685" algn="l"/>
              </a:tabLst>
            </a:pPr>
            <a:r>
              <a:rPr b="1" dirty="0">
                <a:latin typeface="Arial"/>
                <a:cs typeface="Arial"/>
              </a:rPr>
              <a:t>button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for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adding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trips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triggers</a:t>
            </a:r>
            <a:r>
              <a:rPr spc="-2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javascript</a:t>
            </a:r>
            <a:r>
              <a:rPr spc="-5" dirty="0"/>
              <a:t> </a:t>
            </a:r>
            <a:r>
              <a:rPr dirty="0"/>
              <a:t>function</a:t>
            </a:r>
            <a:r>
              <a:rPr spc="-2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store</a:t>
            </a:r>
            <a:r>
              <a:rPr spc="-30" dirty="0"/>
              <a:t> </a:t>
            </a:r>
            <a:r>
              <a:rPr dirty="0"/>
              <a:t>trip</a:t>
            </a:r>
            <a:r>
              <a:rPr spc="-35" dirty="0"/>
              <a:t> </a:t>
            </a:r>
            <a:r>
              <a:rPr spc="-20" dirty="0"/>
              <a:t>data</a:t>
            </a:r>
          </a:p>
          <a:p>
            <a:pPr marL="146685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146685" algn="l"/>
              </a:tabLst>
            </a:pPr>
            <a:r>
              <a:rPr b="1" dirty="0">
                <a:latin typeface="Arial"/>
                <a:cs typeface="Arial"/>
              </a:rPr>
              <a:t>trip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list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container</a:t>
            </a:r>
            <a:r>
              <a:rPr b="1" spc="-65" dirty="0">
                <a:latin typeface="Arial"/>
                <a:cs typeface="Arial"/>
              </a:rPr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dynamically</a:t>
            </a:r>
            <a:r>
              <a:rPr spc="10" dirty="0"/>
              <a:t> </a:t>
            </a:r>
            <a:r>
              <a:rPr dirty="0"/>
              <a:t>displays saved</a:t>
            </a:r>
            <a:r>
              <a:rPr spc="-20" dirty="0"/>
              <a:t> </a:t>
            </a:r>
            <a:r>
              <a:rPr dirty="0"/>
              <a:t>trips</a:t>
            </a:r>
            <a:r>
              <a:rPr spc="-30" dirty="0"/>
              <a:t> </a:t>
            </a:r>
            <a:r>
              <a:rPr dirty="0"/>
              <a:t>with delete</a:t>
            </a:r>
            <a:r>
              <a:rPr spc="-20" dirty="0"/>
              <a:t> </a:t>
            </a:r>
            <a:r>
              <a:rPr spc="-10" dirty="0"/>
              <a:t>options</a:t>
            </a:r>
          </a:p>
          <a:p>
            <a:pPr marL="146685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146685" algn="l"/>
              </a:tabLst>
            </a:pPr>
            <a:r>
              <a:rPr b="1" dirty="0">
                <a:latin typeface="Arial"/>
                <a:cs typeface="Arial"/>
              </a:rPr>
              <a:t>script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tag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embeds</a:t>
            </a:r>
            <a:r>
              <a:rPr spc="-10" dirty="0"/>
              <a:t> </a:t>
            </a:r>
            <a:r>
              <a:rPr dirty="0"/>
              <a:t>javascript</a:t>
            </a:r>
            <a:r>
              <a:rPr spc="-1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handle</a:t>
            </a:r>
            <a:r>
              <a:rPr spc="-10" dirty="0"/>
              <a:t> </a:t>
            </a:r>
            <a:r>
              <a:rPr dirty="0"/>
              <a:t>trip</a:t>
            </a:r>
            <a:r>
              <a:rPr spc="-25" dirty="0"/>
              <a:t> </a:t>
            </a:r>
            <a:r>
              <a:rPr dirty="0"/>
              <a:t>storage</a:t>
            </a:r>
            <a:r>
              <a:rPr spc="-3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interactions</a:t>
            </a:r>
          </a:p>
          <a:p>
            <a:pPr marL="91440" indent="-88900">
              <a:lnSpc>
                <a:spcPct val="100000"/>
              </a:lnSpc>
              <a:spcBef>
                <a:spcPts val="16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b="1" dirty="0">
                <a:latin typeface="Arial"/>
                <a:cs typeface="Arial"/>
              </a:rPr>
              <a:t>styling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layout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uses</a:t>
            </a:r>
            <a:r>
              <a:rPr spc="-25" dirty="0"/>
              <a:t> </a:t>
            </a:r>
            <a:r>
              <a:rPr dirty="0"/>
              <a:t>css</a:t>
            </a:r>
            <a:r>
              <a:rPr spc="-2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make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page</a:t>
            </a:r>
            <a:r>
              <a:rPr spc="-20" dirty="0"/>
              <a:t> </a:t>
            </a:r>
            <a:r>
              <a:rPr dirty="0"/>
              <a:t>visually</a:t>
            </a:r>
            <a:r>
              <a:rPr spc="-15" dirty="0"/>
              <a:t> </a:t>
            </a:r>
            <a:r>
              <a:rPr dirty="0"/>
              <a:t>appealing</a:t>
            </a:r>
            <a:r>
              <a:rPr spc="1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organized</a:t>
            </a: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b="1" dirty="0">
                <a:latin typeface="Arial"/>
                <a:cs typeface="Arial"/>
              </a:rPr>
              <a:t>responsive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design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dirty="0"/>
              <a:t>-</a:t>
            </a:r>
            <a:r>
              <a:rPr spc="-40" dirty="0"/>
              <a:t> </a:t>
            </a:r>
            <a:r>
              <a:rPr dirty="0"/>
              <a:t>ensures</a:t>
            </a:r>
            <a:r>
              <a:rPr spc="-2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page</a:t>
            </a:r>
            <a:r>
              <a:rPr spc="-30" dirty="0"/>
              <a:t> </a:t>
            </a:r>
            <a:r>
              <a:rPr dirty="0"/>
              <a:t>adapts</a:t>
            </a:r>
            <a:r>
              <a:rPr spc="-2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different</a:t>
            </a:r>
            <a:r>
              <a:rPr spc="-25" dirty="0"/>
              <a:t> </a:t>
            </a:r>
            <a:r>
              <a:rPr dirty="0"/>
              <a:t>screen</a:t>
            </a:r>
            <a:r>
              <a:rPr spc="-35" dirty="0"/>
              <a:t> </a:t>
            </a:r>
            <a:r>
              <a:rPr spc="-10" dirty="0"/>
              <a:t>sizes</a:t>
            </a: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b="1" dirty="0">
                <a:latin typeface="Arial"/>
                <a:cs typeface="Arial"/>
              </a:rPr>
              <a:t>header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styling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formats</a:t>
            </a:r>
            <a:r>
              <a:rPr spc="-2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logo,</a:t>
            </a:r>
            <a:r>
              <a:rPr spc="-25" dirty="0"/>
              <a:t> </a:t>
            </a:r>
            <a:r>
              <a:rPr dirty="0"/>
              <a:t>slogan,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navigation</a:t>
            </a:r>
            <a:r>
              <a:rPr spc="-5" dirty="0"/>
              <a:t> </a:t>
            </a:r>
            <a:r>
              <a:rPr spc="-10" dirty="0"/>
              <a:t>elements</a:t>
            </a: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b="1" dirty="0">
                <a:latin typeface="Arial"/>
                <a:cs typeface="Arial"/>
              </a:rPr>
              <a:t>input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field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design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dirty="0"/>
              <a:t>improves</a:t>
            </a:r>
            <a:r>
              <a:rPr spc="-30" dirty="0"/>
              <a:t> </a:t>
            </a:r>
            <a:r>
              <a:rPr dirty="0"/>
              <a:t>usability</a:t>
            </a:r>
            <a:r>
              <a:rPr spc="-20" dirty="0"/>
              <a:t> </a:t>
            </a:r>
            <a:r>
              <a:rPr dirty="0"/>
              <a:t>with</a:t>
            </a:r>
            <a:r>
              <a:rPr spc="5" dirty="0"/>
              <a:t> </a:t>
            </a:r>
            <a:r>
              <a:rPr dirty="0"/>
              <a:t>consistent</a:t>
            </a:r>
            <a:r>
              <a:rPr spc="-30" dirty="0"/>
              <a:t> </a:t>
            </a:r>
            <a:r>
              <a:rPr dirty="0"/>
              <a:t>spacing</a:t>
            </a:r>
            <a:r>
              <a:rPr spc="-1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borders</a:t>
            </a: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b="1" dirty="0">
                <a:latin typeface="Arial"/>
                <a:cs typeface="Arial"/>
              </a:rPr>
              <a:t>button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styling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dirty="0"/>
              <a:t>enhances</a:t>
            </a:r>
            <a:r>
              <a:rPr spc="-15" dirty="0"/>
              <a:t> </a:t>
            </a:r>
            <a:r>
              <a:rPr dirty="0"/>
              <a:t>visibility</a:t>
            </a:r>
            <a:r>
              <a:rPr spc="-2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provides</a:t>
            </a:r>
            <a:r>
              <a:rPr spc="-35" dirty="0"/>
              <a:t> </a:t>
            </a:r>
            <a:r>
              <a:rPr dirty="0"/>
              <a:t>hover</a:t>
            </a:r>
            <a:r>
              <a:rPr spc="-30" dirty="0"/>
              <a:t> </a:t>
            </a:r>
            <a:r>
              <a:rPr spc="-10" dirty="0"/>
              <a:t>effects</a:t>
            </a: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b="1" dirty="0">
                <a:latin typeface="Arial"/>
                <a:cs typeface="Arial"/>
              </a:rPr>
              <a:t>trip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list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styling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dirty="0"/>
              <a:t>arranges</a:t>
            </a:r>
            <a:r>
              <a:rPr spc="-5" dirty="0"/>
              <a:t> </a:t>
            </a:r>
            <a:r>
              <a:rPr dirty="0"/>
              <a:t>saved</a:t>
            </a:r>
            <a:r>
              <a:rPr spc="-30" dirty="0"/>
              <a:t> </a:t>
            </a:r>
            <a:r>
              <a:rPr dirty="0"/>
              <a:t>trips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readable</a:t>
            </a:r>
            <a:r>
              <a:rPr spc="-1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structured</a:t>
            </a:r>
            <a:r>
              <a:rPr spc="-15" dirty="0"/>
              <a:t> </a:t>
            </a:r>
            <a:r>
              <a:rPr spc="-10" dirty="0"/>
              <a:t>format</a:t>
            </a:r>
          </a:p>
          <a:p>
            <a:pPr marL="91440" indent="-88900">
              <a:lnSpc>
                <a:spcPct val="100000"/>
              </a:lnSpc>
              <a:spcBef>
                <a:spcPts val="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b="1" dirty="0">
                <a:latin typeface="Arial"/>
                <a:cs typeface="Arial"/>
              </a:rPr>
              <a:t>delete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button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styling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dirty="0"/>
              <a:t>highlights</a:t>
            </a:r>
            <a:r>
              <a:rPr spc="-1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remove</a:t>
            </a:r>
            <a:r>
              <a:rPr spc="-30" dirty="0"/>
              <a:t> </a:t>
            </a:r>
            <a:r>
              <a:rPr dirty="0"/>
              <a:t>option</a:t>
            </a:r>
            <a:r>
              <a:rPr spc="-30" dirty="0"/>
              <a:t> </a:t>
            </a:r>
            <a:r>
              <a:rPr spc="-10" dirty="0"/>
              <a:t>clearly</a:t>
            </a: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b="1" dirty="0">
                <a:latin typeface="Arial"/>
                <a:cs typeface="Arial"/>
              </a:rPr>
              <a:t>font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and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color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scheme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improves</a:t>
            </a:r>
            <a:r>
              <a:rPr spc="-15" dirty="0"/>
              <a:t> </a:t>
            </a:r>
            <a:r>
              <a:rPr dirty="0"/>
              <a:t>readability</a:t>
            </a:r>
            <a:r>
              <a:rPr spc="1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maintains</a:t>
            </a:r>
            <a:r>
              <a:rPr spc="-1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modern</a:t>
            </a:r>
            <a:r>
              <a:rPr spc="-10" dirty="0"/>
              <a:t> aesthetic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6591" rIns="0" bIns="0" rtlCol="0">
            <a:spAutoFit/>
          </a:bodyPr>
          <a:lstStyle/>
          <a:p>
            <a:pPr marL="402590">
              <a:lnSpc>
                <a:spcPct val="100000"/>
              </a:lnSpc>
              <a:spcBef>
                <a:spcPts val="100"/>
              </a:spcBef>
            </a:pPr>
            <a:r>
              <a:rPr sz="2400" spc="-100" dirty="0"/>
              <a:t>JAVASCRIPT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719960" y="938021"/>
            <a:ext cx="7364730" cy="522351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preloading</a:t>
            </a:r>
            <a:r>
              <a:rPr sz="18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default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trips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-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preloadTrips()</a:t>
            </a:r>
            <a:endParaRPr sz="1800">
              <a:latin typeface="Arial MT"/>
              <a:cs typeface="Arial MT"/>
            </a:endParaRPr>
          </a:p>
          <a:p>
            <a:pPr marL="342900" lvl="1" indent="-342900">
              <a:lnSpc>
                <a:spcPct val="100000"/>
              </a:lnSpc>
              <a:spcBef>
                <a:spcPts val="5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loads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default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trips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into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localStorage if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no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data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exists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75"/>
              </a:spcBef>
              <a:tabLst>
                <a:tab pos="342900" algn="l"/>
              </a:tabLst>
            </a:pPr>
            <a:r>
              <a:rPr sz="1800" spc="-25" dirty="0">
                <a:solidFill>
                  <a:srgbClr val="A42F0F"/>
                </a:solidFill>
                <a:latin typeface="Arial MT"/>
                <a:cs typeface="Arial MT"/>
              </a:rPr>
              <a:t>2.</a:t>
            </a:r>
            <a:r>
              <a:rPr sz="1800" dirty="0">
                <a:solidFill>
                  <a:srgbClr val="A42F0F"/>
                </a:solidFill>
                <a:latin typeface="Arial MT"/>
                <a:cs typeface="Arial MT"/>
              </a:rPr>
              <a:t>	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adding a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new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trip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-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addTrip()</a:t>
            </a:r>
            <a:endParaRPr sz="1800">
              <a:latin typeface="Arial MT"/>
              <a:cs typeface="Arial MT"/>
            </a:endParaRPr>
          </a:p>
          <a:p>
            <a:pPr marL="342900" indent="-342900">
              <a:lnSpc>
                <a:spcPct val="100000"/>
              </a:lnSpc>
              <a:spcBef>
                <a:spcPts val="5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collects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input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values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(destination,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date,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members,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reminder)</a:t>
            </a:r>
            <a:endParaRPr sz="1800">
              <a:latin typeface="Arial MT"/>
              <a:cs typeface="Arial MT"/>
            </a:endParaRPr>
          </a:p>
          <a:p>
            <a:pPr marL="342900" indent="-342900">
              <a:lnSpc>
                <a:spcPct val="100000"/>
              </a:lnSpc>
              <a:spcBef>
                <a:spcPts val="5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validates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inputs</a:t>
            </a:r>
            <a:r>
              <a:rPr sz="18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stores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trip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in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localStorage</a:t>
            </a:r>
            <a:endParaRPr sz="1800">
              <a:latin typeface="Arial MT"/>
              <a:cs typeface="Arial MT"/>
            </a:endParaRPr>
          </a:p>
          <a:p>
            <a:pPr marL="342900" indent="-342900">
              <a:lnSpc>
                <a:spcPct val="100000"/>
              </a:lnSpc>
              <a:spcBef>
                <a:spcPts val="57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clears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input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fields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updates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trip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list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70"/>
              </a:spcBef>
              <a:tabLst>
                <a:tab pos="342900" algn="l"/>
              </a:tabLst>
            </a:pPr>
            <a:r>
              <a:rPr sz="1800" spc="-25" dirty="0">
                <a:solidFill>
                  <a:srgbClr val="A42F0F"/>
                </a:solidFill>
                <a:latin typeface="Arial MT"/>
                <a:cs typeface="Arial MT"/>
              </a:rPr>
              <a:t>3.</a:t>
            </a:r>
            <a:r>
              <a:rPr sz="1800" dirty="0">
                <a:solidFill>
                  <a:srgbClr val="A42F0F"/>
                </a:solidFill>
                <a:latin typeface="Arial MT"/>
                <a:cs typeface="Arial MT"/>
              </a:rPr>
              <a:t>	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loading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stored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trips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-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loadTrips()</a:t>
            </a:r>
            <a:endParaRPr sz="1800">
              <a:latin typeface="Arial MT"/>
              <a:cs typeface="Arial MT"/>
            </a:endParaRPr>
          </a:p>
          <a:p>
            <a:pPr marL="342900" indent="-342900">
              <a:lnSpc>
                <a:spcPct val="100000"/>
              </a:lnSpc>
              <a:spcBef>
                <a:spcPts val="560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retrieves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trips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from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localStorage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displays</a:t>
            </a:r>
            <a:r>
              <a:rPr sz="1800" spc="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them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dynamically</a:t>
            </a:r>
            <a:endParaRPr sz="1800">
              <a:latin typeface="Arial MT"/>
              <a:cs typeface="Arial MT"/>
            </a:endParaRPr>
          </a:p>
          <a:p>
            <a:pPr marL="342900" indent="-342900">
              <a:lnSpc>
                <a:spcPct val="100000"/>
              </a:lnSpc>
              <a:spcBef>
                <a:spcPts val="580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shows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trip</a:t>
            </a:r>
            <a:r>
              <a:rPr sz="18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details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(destination,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date,</a:t>
            </a:r>
            <a:r>
              <a:rPr sz="18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members,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reminder)</a:t>
            </a:r>
            <a:endParaRPr sz="1800">
              <a:latin typeface="Arial MT"/>
              <a:cs typeface="Arial MT"/>
            </a:endParaRPr>
          </a:p>
          <a:p>
            <a:pPr marL="342900" indent="-342900">
              <a:lnSpc>
                <a:spcPct val="100000"/>
              </a:lnSpc>
              <a:spcBef>
                <a:spcPts val="560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adds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delete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button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for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each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trip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70"/>
              </a:spcBef>
              <a:tabLst>
                <a:tab pos="342900" algn="l"/>
              </a:tabLst>
            </a:pPr>
            <a:r>
              <a:rPr sz="1800" spc="-25" dirty="0">
                <a:solidFill>
                  <a:srgbClr val="A42F0F"/>
                </a:solidFill>
                <a:latin typeface="Arial MT"/>
                <a:cs typeface="Arial MT"/>
              </a:rPr>
              <a:t>4.</a:t>
            </a:r>
            <a:r>
              <a:rPr sz="1800" dirty="0">
                <a:solidFill>
                  <a:srgbClr val="A42F0F"/>
                </a:solidFill>
                <a:latin typeface="Arial MT"/>
                <a:cs typeface="Arial MT"/>
              </a:rPr>
              <a:t>	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deleting</a:t>
            </a:r>
            <a:r>
              <a:rPr sz="18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trip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-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deleteTrip(index)</a:t>
            </a:r>
            <a:endParaRPr sz="1800">
              <a:latin typeface="Arial MT"/>
              <a:cs typeface="Arial MT"/>
            </a:endParaRPr>
          </a:p>
          <a:p>
            <a:pPr marL="342900" indent="-342900">
              <a:lnSpc>
                <a:spcPct val="100000"/>
              </a:lnSpc>
              <a:spcBef>
                <a:spcPts val="57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asks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for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confirmation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before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deleting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trip</a:t>
            </a:r>
            <a:endParaRPr sz="1800">
              <a:latin typeface="Arial MT"/>
              <a:cs typeface="Arial MT"/>
            </a:endParaRPr>
          </a:p>
          <a:p>
            <a:pPr marL="342900" indent="-342900">
              <a:lnSpc>
                <a:spcPct val="100000"/>
              </a:lnSpc>
              <a:spcBef>
                <a:spcPts val="5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removes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selected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trip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from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localStorage and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updates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display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tabLst>
                <a:tab pos="342900" algn="l"/>
              </a:tabLst>
            </a:pPr>
            <a:r>
              <a:rPr sz="1800" spc="-25" dirty="0">
                <a:solidFill>
                  <a:srgbClr val="A42F0F"/>
                </a:solidFill>
                <a:latin typeface="Arial MT"/>
                <a:cs typeface="Arial MT"/>
              </a:rPr>
              <a:t>5.</a:t>
            </a:r>
            <a:r>
              <a:rPr sz="1800" dirty="0">
                <a:solidFill>
                  <a:srgbClr val="A42F0F"/>
                </a:solidFill>
                <a:latin typeface="Arial MT"/>
                <a:cs typeface="Arial MT"/>
              </a:rPr>
              <a:t>	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checking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reminders</a:t>
            </a:r>
            <a:r>
              <a:rPr sz="18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-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checkReminders()</a:t>
            </a:r>
            <a:endParaRPr sz="1800">
              <a:latin typeface="Arial MT"/>
              <a:cs typeface="Arial MT"/>
            </a:endParaRPr>
          </a:p>
          <a:p>
            <a:pPr marL="342900" indent="-342900">
              <a:lnSpc>
                <a:spcPct val="100000"/>
              </a:lnSpc>
              <a:spcBef>
                <a:spcPts val="580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ensures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trip</a:t>
            </a:r>
            <a:r>
              <a:rPr sz="18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reminders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are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displayed or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handled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when the</a:t>
            </a:r>
            <a:r>
              <a:rPr sz="18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page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loads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220" rIns="0" bIns="0" rtlCol="0">
            <a:spAutoFit/>
          </a:bodyPr>
          <a:lstStyle/>
          <a:p>
            <a:pPr marL="546735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The</a:t>
            </a:r>
            <a:r>
              <a:rPr spc="-250" dirty="0"/>
              <a:t> </a:t>
            </a:r>
            <a:r>
              <a:rPr spc="-135" dirty="0"/>
              <a:t>use</a:t>
            </a:r>
            <a:r>
              <a:rPr spc="-250" dirty="0"/>
              <a:t> </a:t>
            </a:r>
            <a:r>
              <a:rPr dirty="0"/>
              <a:t>of</a:t>
            </a:r>
            <a:r>
              <a:rPr spc="-245" dirty="0"/>
              <a:t> </a:t>
            </a:r>
            <a:r>
              <a:rPr spc="60" dirty="0"/>
              <a:t>local</a:t>
            </a:r>
            <a:r>
              <a:rPr spc="-240" dirty="0"/>
              <a:t> </a:t>
            </a:r>
            <a:r>
              <a:rPr spc="-20" dirty="0"/>
              <a:t>storage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5498" y="1013586"/>
            <a:ext cx="9537700" cy="2749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850" indent="-1905">
              <a:lnSpc>
                <a:spcPct val="100000"/>
              </a:lnSpc>
              <a:spcBef>
                <a:spcPts val="100"/>
              </a:spcBef>
              <a:buSzPct val="94444"/>
              <a:buAutoNum type="arabicParenR"/>
              <a:tabLst>
                <a:tab pos="2159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	Local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storage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is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used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in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this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code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save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retrieve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trip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details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persistently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on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user's browser,</a:t>
            </a:r>
            <a:r>
              <a:rPr sz="1800" spc="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ensuring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that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data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remains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available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even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after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page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refresh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or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closure.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When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Arial MT"/>
                <a:cs typeface="Arial MT"/>
              </a:rPr>
              <a:t>a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user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adds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trip,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details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(destination,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date,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members,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reminder)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are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stored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as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JSON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string</a:t>
            </a:r>
            <a:r>
              <a:rPr sz="18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in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local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storage,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allowing</a:t>
            </a:r>
            <a:r>
              <a:rPr sz="1800" spc="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them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be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retrieved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later.</a:t>
            </a:r>
            <a:endParaRPr sz="1800">
              <a:latin typeface="Arial MT"/>
              <a:cs typeface="Arial MT"/>
            </a:endParaRPr>
          </a:p>
          <a:p>
            <a:pPr marL="12700" marR="5080" indent="261620" algn="just">
              <a:lnSpc>
                <a:spcPct val="100000"/>
              </a:lnSpc>
              <a:spcBef>
                <a:spcPts val="994"/>
              </a:spcBef>
              <a:buSzPct val="94444"/>
              <a:buAutoNum type="arabicParenR"/>
              <a:tabLst>
                <a:tab pos="27432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8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loadTrips()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function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reads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this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stored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data,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converts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it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back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into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JavaScript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array, 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and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displays</a:t>
            </a:r>
            <a:r>
              <a:rPr sz="1800" spc="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it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dynamically.</a:t>
            </a:r>
            <a:r>
              <a:rPr sz="18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800" spc="-10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preloadTrips()</a:t>
            </a:r>
            <a:r>
              <a:rPr sz="18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function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also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initializes default trips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for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first-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time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users,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ensuring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smooth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experience.</a:t>
            </a:r>
            <a:endParaRPr sz="1800">
              <a:latin typeface="Arial MT"/>
              <a:cs typeface="Arial MT"/>
            </a:endParaRPr>
          </a:p>
          <a:p>
            <a:pPr marL="12700" marR="71120" indent="-2540" algn="just">
              <a:lnSpc>
                <a:spcPct val="100000"/>
              </a:lnSpc>
              <a:spcBef>
                <a:spcPts val="1010"/>
              </a:spcBef>
              <a:buSzPct val="94444"/>
              <a:buAutoNum type="arabicParenR"/>
              <a:tabLst>
                <a:tab pos="215265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	Users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can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also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delete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trips,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which</a:t>
            </a:r>
            <a:r>
              <a:rPr sz="1800" spc="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updates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local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storage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accordingly.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This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approach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enhances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user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experience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by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keeping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data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accessible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without requiring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server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or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database.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14375"/>
            <a:ext cx="9037320" cy="3226435"/>
            <a:chOff x="0" y="714375"/>
            <a:chExt cx="9037320" cy="32264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322" y="946784"/>
              <a:ext cx="7476871" cy="20509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246373" y="1952116"/>
              <a:ext cx="2538095" cy="1988820"/>
            </a:xfrm>
            <a:custGeom>
              <a:avLst/>
              <a:gdLst/>
              <a:ahLst/>
              <a:cxnLst/>
              <a:rect l="l" t="t" r="r" b="b"/>
              <a:pathLst>
                <a:path w="2538095" h="1988820">
                  <a:moveTo>
                    <a:pt x="2475039" y="43111"/>
                  </a:moveTo>
                  <a:lnTo>
                    <a:pt x="2412" y="1979168"/>
                  </a:lnTo>
                  <a:lnTo>
                    <a:pt x="381" y="1980819"/>
                  </a:lnTo>
                  <a:lnTo>
                    <a:pt x="0" y="1983740"/>
                  </a:lnTo>
                  <a:lnTo>
                    <a:pt x="1650" y="1985772"/>
                  </a:lnTo>
                  <a:lnTo>
                    <a:pt x="3301" y="1987931"/>
                  </a:lnTo>
                  <a:lnTo>
                    <a:pt x="6223" y="1988312"/>
                  </a:lnTo>
                  <a:lnTo>
                    <a:pt x="8381" y="1986661"/>
                  </a:lnTo>
                  <a:lnTo>
                    <a:pt x="2481003" y="50735"/>
                  </a:lnTo>
                  <a:lnTo>
                    <a:pt x="2475039" y="43111"/>
                  </a:lnTo>
                  <a:close/>
                </a:path>
                <a:path w="2538095" h="1988820">
                  <a:moveTo>
                    <a:pt x="2521968" y="33782"/>
                  </a:moveTo>
                  <a:lnTo>
                    <a:pt x="2487167" y="33782"/>
                  </a:lnTo>
                  <a:lnTo>
                    <a:pt x="2490089" y="34162"/>
                  </a:lnTo>
                  <a:lnTo>
                    <a:pt x="2493391" y="38227"/>
                  </a:lnTo>
                  <a:lnTo>
                    <a:pt x="2493010" y="41275"/>
                  </a:lnTo>
                  <a:lnTo>
                    <a:pt x="2490978" y="42925"/>
                  </a:lnTo>
                  <a:lnTo>
                    <a:pt x="2481003" y="50735"/>
                  </a:lnTo>
                  <a:lnTo>
                    <a:pt x="2501518" y="76962"/>
                  </a:lnTo>
                  <a:lnTo>
                    <a:pt x="2521968" y="33782"/>
                  </a:lnTo>
                  <a:close/>
                </a:path>
                <a:path w="2538095" h="1988820">
                  <a:moveTo>
                    <a:pt x="2487167" y="33782"/>
                  </a:moveTo>
                  <a:lnTo>
                    <a:pt x="2485009" y="35306"/>
                  </a:lnTo>
                  <a:lnTo>
                    <a:pt x="2475039" y="43111"/>
                  </a:lnTo>
                  <a:lnTo>
                    <a:pt x="2481003" y="50735"/>
                  </a:lnTo>
                  <a:lnTo>
                    <a:pt x="2490978" y="42925"/>
                  </a:lnTo>
                  <a:lnTo>
                    <a:pt x="2493010" y="41275"/>
                  </a:lnTo>
                  <a:lnTo>
                    <a:pt x="2493391" y="38227"/>
                  </a:lnTo>
                  <a:lnTo>
                    <a:pt x="2490089" y="34162"/>
                  </a:lnTo>
                  <a:lnTo>
                    <a:pt x="2487167" y="33782"/>
                  </a:lnTo>
                  <a:close/>
                </a:path>
                <a:path w="2538095" h="1988820">
                  <a:moveTo>
                    <a:pt x="2537967" y="0"/>
                  </a:moveTo>
                  <a:lnTo>
                    <a:pt x="2454529" y="16891"/>
                  </a:lnTo>
                  <a:lnTo>
                    <a:pt x="2475039" y="43111"/>
                  </a:lnTo>
                  <a:lnTo>
                    <a:pt x="2485009" y="35306"/>
                  </a:lnTo>
                  <a:lnTo>
                    <a:pt x="2487167" y="33782"/>
                  </a:lnTo>
                  <a:lnTo>
                    <a:pt x="2521968" y="33782"/>
                  </a:lnTo>
                  <a:lnTo>
                    <a:pt x="2537967" y="0"/>
                  </a:lnTo>
                  <a:close/>
                </a:path>
              </a:pathLst>
            </a:custGeom>
            <a:solidFill>
              <a:srgbClr val="9D2C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908" rIns="0" bIns="0" rtlCol="0">
            <a:spAutoFit/>
          </a:bodyPr>
          <a:lstStyle/>
          <a:p>
            <a:pPr marL="305435">
              <a:lnSpc>
                <a:spcPct val="100000"/>
              </a:lnSpc>
              <a:spcBef>
                <a:spcPts val="95"/>
              </a:spcBef>
            </a:pPr>
            <a:r>
              <a:rPr sz="2800" u="sng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Insurance</a:t>
            </a:r>
            <a:r>
              <a:rPr sz="2800" u="sng" spc="-110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 </a:t>
            </a:r>
            <a:r>
              <a:rPr sz="2800" u="sng" spc="-10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webpage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8488" y="55"/>
            <a:ext cx="3248787" cy="68154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7990" y="684987"/>
            <a:ext cx="4638294" cy="540308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934711" y="2836151"/>
            <a:ext cx="1077595" cy="615950"/>
            <a:chOff x="4934711" y="2836151"/>
            <a:chExt cx="1077595" cy="61595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4711" y="2836151"/>
              <a:ext cx="1077455" cy="61570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88051" y="2851023"/>
              <a:ext cx="976122" cy="51371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918" rIns="0" bIns="0" rtlCol="0">
            <a:spAutoFit/>
          </a:bodyPr>
          <a:lstStyle/>
          <a:p>
            <a:pPr marL="330835">
              <a:lnSpc>
                <a:spcPct val="100000"/>
              </a:lnSpc>
              <a:spcBef>
                <a:spcPts val="100"/>
              </a:spcBef>
            </a:pPr>
            <a:r>
              <a:rPr sz="2400" u="sng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HTML</a:t>
            </a:r>
            <a:r>
              <a:rPr sz="2400" u="sng" spc="-145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and</a:t>
            </a:r>
            <a:r>
              <a:rPr sz="2400" u="sng" spc="-70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spc="-25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CSS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83207" y="845946"/>
            <a:ext cx="8698230" cy="4478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7325">
              <a:lnSpc>
                <a:spcPct val="100000"/>
              </a:lnSpc>
              <a:spcBef>
                <a:spcPts val="100"/>
              </a:spcBef>
              <a:buSzPct val="94444"/>
              <a:buFont typeface="Calibri"/>
              <a:buAutoNum type="arabicParenR"/>
              <a:tabLst>
                <a:tab pos="195580" algn="l"/>
              </a:tabLst>
            </a:pP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Custom</a:t>
            </a:r>
            <a:r>
              <a:rPr sz="18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File</a:t>
            </a:r>
            <a:r>
              <a:rPr sz="1800" b="1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Upload</a:t>
            </a:r>
            <a:r>
              <a:rPr sz="18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UI</a:t>
            </a:r>
            <a:r>
              <a:rPr sz="1800" b="1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Styled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file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input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cleaner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user-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friendly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experience.</a:t>
            </a:r>
            <a:endParaRPr sz="1800">
              <a:latin typeface="Calibri"/>
              <a:cs typeface="Calibri"/>
            </a:endParaRPr>
          </a:p>
          <a:p>
            <a:pPr marL="304165" indent="-291465">
              <a:lnSpc>
                <a:spcPct val="100000"/>
              </a:lnSpc>
              <a:spcBef>
                <a:spcPts val="1955"/>
              </a:spcBef>
              <a:buSzPct val="94444"/>
              <a:buFont typeface="Calibri"/>
              <a:buAutoNum type="arabicParenR"/>
              <a:tabLst>
                <a:tab pos="304165" algn="l"/>
              </a:tabLst>
            </a:pP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Premium</a:t>
            </a:r>
            <a:r>
              <a:rPr sz="1800" b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Calculation</a:t>
            </a:r>
            <a:r>
              <a:rPr sz="18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Calibri"/>
                <a:cs typeface="Calibri"/>
              </a:rPr>
              <a:t>(Auto-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Update)</a:t>
            </a:r>
            <a:r>
              <a:rPr sz="1800" b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Prevents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manual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errors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enhances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convenience.</a:t>
            </a:r>
            <a:endParaRPr sz="1800">
              <a:latin typeface="Calibri"/>
              <a:cs typeface="Calibri"/>
            </a:endParaRPr>
          </a:p>
          <a:p>
            <a:pPr marL="304165" indent="-291465">
              <a:lnSpc>
                <a:spcPct val="100000"/>
              </a:lnSpc>
              <a:spcBef>
                <a:spcPts val="1960"/>
              </a:spcBef>
              <a:buSzPct val="94444"/>
              <a:buFont typeface="Calibri"/>
              <a:buAutoNum type="arabicParenR"/>
              <a:tabLst>
                <a:tab pos="304165" algn="l"/>
              </a:tabLst>
            </a:pP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Dynamic</a:t>
            </a:r>
            <a:r>
              <a:rPr sz="18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Policy</a:t>
            </a:r>
            <a:r>
              <a:rPr sz="1800" b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&amp;</a:t>
            </a:r>
            <a:r>
              <a:rPr sz="18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Group</a:t>
            </a:r>
            <a:r>
              <a:rPr sz="18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1800" b="1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Generates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unique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numbers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realistic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feel.</a:t>
            </a:r>
            <a:endParaRPr sz="1800">
              <a:latin typeface="Calibri"/>
              <a:cs typeface="Calibri"/>
            </a:endParaRPr>
          </a:p>
          <a:p>
            <a:pPr marL="250190" indent="-237490">
              <a:lnSpc>
                <a:spcPct val="100000"/>
              </a:lnSpc>
              <a:spcBef>
                <a:spcPts val="1939"/>
              </a:spcBef>
              <a:buSzPct val="94444"/>
              <a:buFont typeface="Calibri"/>
              <a:buAutoNum type="arabicParenR"/>
              <a:tabLst>
                <a:tab pos="250190" algn="l"/>
              </a:tabLst>
            </a:pPr>
            <a:r>
              <a:rPr sz="1800" b="1" spc="-10" dirty="0">
                <a:solidFill>
                  <a:srgbClr val="404040"/>
                </a:solidFill>
                <a:latin typeface="Calibri"/>
                <a:cs typeface="Calibri"/>
              </a:rPr>
              <a:t>Left-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Aligned</a:t>
            </a:r>
            <a:r>
              <a:rPr sz="18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spc="-30" dirty="0">
                <a:solidFill>
                  <a:srgbClr val="404040"/>
                </a:solidFill>
                <a:latin typeface="Calibri"/>
                <a:cs typeface="Calibri"/>
              </a:rPr>
              <a:t>Terms</a:t>
            </a:r>
            <a:r>
              <a:rPr sz="1800" b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Checkbox</a:t>
            </a:r>
            <a:r>
              <a:rPr sz="18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Improves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readability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while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 maintaining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clean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layout.</a:t>
            </a:r>
            <a:endParaRPr sz="1800">
              <a:latin typeface="Calibri"/>
              <a:cs typeface="Calibri"/>
            </a:endParaRPr>
          </a:p>
          <a:p>
            <a:pPr marL="304165" indent="-291465">
              <a:lnSpc>
                <a:spcPct val="100000"/>
              </a:lnSpc>
              <a:spcBef>
                <a:spcPts val="1960"/>
              </a:spcBef>
              <a:buSzPct val="94444"/>
              <a:buFont typeface="Calibri"/>
              <a:buAutoNum type="arabicParenR"/>
              <a:tabLst>
                <a:tab pos="304165" algn="l"/>
              </a:tabLst>
            </a:pP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Modern</a:t>
            </a:r>
            <a:r>
              <a:rPr sz="1800" b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UI</a:t>
            </a:r>
            <a:r>
              <a:rPr sz="1800" b="1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18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Custom</a:t>
            </a:r>
            <a:r>
              <a:rPr sz="18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Colors</a:t>
            </a:r>
            <a:r>
              <a:rPr sz="18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consistent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color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palette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creates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professional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look.</a:t>
            </a:r>
            <a:endParaRPr sz="1800">
              <a:latin typeface="Calibri"/>
              <a:cs typeface="Calibri"/>
            </a:endParaRPr>
          </a:p>
          <a:p>
            <a:pPr marL="304165" indent="-291465">
              <a:lnSpc>
                <a:spcPct val="100000"/>
              </a:lnSpc>
              <a:spcBef>
                <a:spcPts val="1945"/>
              </a:spcBef>
              <a:buSzPct val="94444"/>
              <a:buFont typeface="Calibri"/>
              <a:buAutoNum type="arabicParenR"/>
              <a:tabLst>
                <a:tab pos="304165" algn="l"/>
              </a:tabLst>
            </a:pPr>
            <a:r>
              <a:rPr sz="1800" b="1" spc="-10" dirty="0">
                <a:solidFill>
                  <a:srgbClr val="404040"/>
                </a:solidFill>
                <a:latin typeface="Calibri"/>
                <a:cs typeface="Calibri"/>
              </a:rPr>
              <a:t>Card-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sz="18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Form</a:t>
            </a:r>
            <a:r>
              <a:rPr sz="18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Styling</a:t>
            </a:r>
            <a:r>
              <a:rPr sz="18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Shadow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border-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radius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add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modern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touch.</a:t>
            </a:r>
            <a:endParaRPr sz="1800">
              <a:latin typeface="Calibri"/>
              <a:cs typeface="Calibri"/>
            </a:endParaRPr>
          </a:p>
          <a:p>
            <a:pPr marL="304165" indent="-291465">
              <a:lnSpc>
                <a:spcPct val="100000"/>
              </a:lnSpc>
              <a:spcBef>
                <a:spcPts val="1955"/>
              </a:spcBef>
              <a:buSzPct val="94444"/>
              <a:buFont typeface="Calibri"/>
              <a:buAutoNum type="arabicParenR"/>
              <a:tabLst>
                <a:tab pos="304165" algn="l"/>
              </a:tabLst>
            </a:pP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Hover</a:t>
            </a:r>
            <a:r>
              <a:rPr sz="1800" b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&amp;</a:t>
            </a:r>
            <a:r>
              <a:rPr sz="18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Focus</a:t>
            </a:r>
            <a:r>
              <a:rPr sz="1800" b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Effects</a:t>
            </a:r>
            <a:r>
              <a:rPr sz="1800" b="1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Interactive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elements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enhance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experience.</a:t>
            </a:r>
            <a:endParaRPr sz="1800">
              <a:latin typeface="Calibri"/>
              <a:cs typeface="Calibri"/>
            </a:endParaRPr>
          </a:p>
          <a:p>
            <a:pPr marL="304165" indent="-291465">
              <a:lnSpc>
                <a:spcPct val="100000"/>
              </a:lnSpc>
              <a:spcBef>
                <a:spcPts val="1960"/>
              </a:spcBef>
              <a:buSzPct val="94444"/>
              <a:buFont typeface="Calibri"/>
              <a:buAutoNum type="arabicParenR"/>
              <a:tabLst>
                <a:tab pos="304165" algn="l"/>
              </a:tabLst>
            </a:pP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Custom</a:t>
            </a:r>
            <a:r>
              <a:rPr sz="18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File</a:t>
            </a:r>
            <a:r>
              <a:rPr sz="18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Upload</a:t>
            </a:r>
            <a:r>
              <a:rPr sz="1800" b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Styling</a:t>
            </a:r>
            <a:r>
              <a:rPr sz="18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Dashed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borders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smooth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transitions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improve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aesthetics.</a:t>
            </a:r>
            <a:endParaRPr sz="1800">
              <a:latin typeface="Calibri"/>
              <a:cs typeface="Calibri"/>
            </a:endParaRPr>
          </a:p>
          <a:p>
            <a:pPr marL="250190" indent="-237490">
              <a:lnSpc>
                <a:spcPct val="100000"/>
              </a:lnSpc>
              <a:spcBef>
                <a:spcPts val="1945"/>
              </a:spcBef>
              <a:buSzPct val="94444"/>
              <a:buFont typeface="Calibri"/>
              <a:buAutoNum type="arabicParenR"/>
              <a:tabLst>
                <a:tab pos="250190" algn="l"/>
              </a:tabLst>
            </a:pP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Responsive</a:t>
            </a:r>
            <a:r>
              <a:rPr sz="1800" b="1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Design</a:t>
            </a:r>
            <a:r>
              <a:rPr sz="18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Optimized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different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screen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sizes.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0273" rIns="0" bIns="0" rtlCol="0">
            <a:spAutoFit/>
          </a:bodyPr>
          <a:lstStyle/>
          <a:p>
            <a:pPr marL="459105">
              <a:lnSpc>
                <a:spcPct val="100000"/>
              </a:lnSpc>
              <a:spcBef>
                <a:spcPts val="100"/>
              </a:spcBef>
            </a:pPr>
            <a:r>
              <a:rPr sz="2400" u="sng" spc="-40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JAVASCRIPT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3616" y="1116025"/>
            <a:ext cx="9371330" cy="4857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105"/>
              </a:spcBef>
              <a:buFont typeface="Calibri"/>
              <a:buAutoNum type="arabicParenR"/>
              <a:tabLst>
                <a:tab pos="285115" algn="l"/>
              </a:tabLst>
            </a:pPr>
            <a:r>
              <a:rPr sz="1700" b="1" dirty="0">
                <a:solidFill>
                  <a:srgbClr val="404040"/>
                </a:solidFill>
                <a:latin typeface="Calibri"/>
                <a:cs typeface="Calibri"/>
              </a:rPr>
              <a:t>Premium</a:t>
            </a:r>
            <a:r>
              <a:rPr sz="1700" b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404040"/>
                </a:solidFill>
                <a:latin typeface="Calibri"/>
                <a:cs typeface="Calibri"/>
              </a:rPr>
              <a:t>Calculation</a:t>
            </a:r>
            <a:endParaRPr sz="1700">
              <a:latin typeface="Calibri"/>
              <a:cs typeface="Calibri"/>
            </a:endParaRPr>
          </a:p>
          <a:p>
            <a:pPr marL="354965" lvl="1" indent="-342265">
              <a:lnSpc>
                <a:spcPts val="2010"/>
              </a:lnSpc>
              <a:spcBef>
                <a:spcPts val="1730"/>
              </a:spcBef>
              <a:buClr>
                <a:srgbClr val="A42F0F"/>
              </a:buClr>
              <a:buSzPct val="58823"/>
              <a:buFont typeface="Symbol"/>
              <a:buChar char=""/>
              <a:tabLst>
                <a:tab pos="354965" algn="l"/>
              </a:tabLst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Listens</a:t>
            </a:r>
            <a:r>
              <a:rPr sz="17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input</a:t>
            </a:r>
            <a:r>
              <a:rPr sz="17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changes</a:t>
            </a:r>
            <a:r>
              <a:rPr sz="17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404040"/>
                </a:solidFill>
                <a:latin typeface="Calibri"/>
                <a:cs typeface="Calibri"/>
              </a:rPr>
              <a:t>trip</a:t>
            </a:r>
            <a:r>
              <a:rPr sz="17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404040"/>
                </a:solidFill>
                <a:latin typeface="Calibri"/>
                <a:cs typeface="Calibri"/>
              </a:rPr>
              <a:t>duration</a:t>
            </a:r>
            <a:r>
              <a:rPr sz="17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field.</a:t>
            </a:r>
            <a:r>
              <a:rPr sz="17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Multiplies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17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days</a:t>
            </a:r>
            <a:r>
              <a:rPr sz="17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₹5</a:t>
            </a:r>
            <a:r>
              <a:rPr sz="17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calculate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endParaRPr sz="1700">
              <a:latin typeface="Calibri"/>
              <a:cs typeface="Calibri"/>
            </a:endParaRPr>
          </a:p>
          <a:p>
            <a:pPr marL="355600">
              <a:lnSpc>
                <a:spcPts val="2010"/>
              </a:lnSpc>
            </a:pP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insurance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premium.</a:t>
            </a:r>
            <a:endParaRPr sz="1700">
              <a:latin typeface="Calibri"/>
              <a:cs typeface="Calibri"/>
            </a:endParaRPr>
          </a:p>
          <a:p>
            <a:pPr marL="354965" lvl="1" indent="-342265">
              <a:lnSpc>
                <a:spcPct val="100000"/>
              </a:lnSpc>
              <a:spcBef>
                <a:spcPts val="1739"/>
              </a:spcBef>
              <a:buClr>
                <a:srgbClr val="A42F0F"/>
              </a:buClr>
              <a:buSzPct val="58823"/>
              <a:buFont typeface="Symbol"/>
              <a:buChar char=""/>
              <a:tabLst>
                <a:tab pos="354965" algn="l"/>
              </a:tabLst>
            </a:pP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Displays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calculated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premium</a:t>
            </a:r>
            <a:r>
              <a:rPr sz="17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7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readonly</a:t>
            </a:r>
            <a:r>
              <a:rPr sz="17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input</a:t>
            </a:r>
            <a:r>
              <a:rPr sz="17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field.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39"/>
              </a:spcBef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2)</a:t>
            </a:r>
            <a:r>
              <a:rPr sz="1700" spc="3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404040"/>
                </a:solidFill>
                <a:latin typeface="Calibri"/>
                <a:cs typeface="Calibri"/>
              </a:rPr>
              <a:t>Form</a:t>
            </a:r>
            <a:r>
              <a:rPr sz="1700" b="1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404040"/>
                </a:solidFill>
                <a:latin typeface="Calibri"/>
                <a:cs typeface="Calibri"/>
              </a:rPr>
              <a:t>Submission</a:t>
            </a:r>
            <a:r>
              <a:rPr sz="17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404040"/>
                </a:solidFill>
                <a:latin typeface="Calibri"/>
                <a:cs typeface="Calibri"/>
              </a:rPr>
              <a:t>Handling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739"/>
              </a:spcBef>
              <a:buClr>
                <a:srgbClr val="A42F0F"/>
              </a:buClr>
              <a:buSzPct val="58823"/>
              <a:buFont typeface="Symbol"/>
              <a:buChar char=""/>
              <a:tabLst>
                <a:tab pos="354965" algn="l"/>
              </a:tabLst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Listens</a:t>
            </a:r>
            <a:r>
              <a:rPr sz="17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404040"/>
                </a:solidFill>
                <a:latin typeface="Calibri"/>
                <a:cs typeface="Calibri"/>
              </a:rPr>
              <a:t>"Get</a:t>
            </a:r>
            <a:r>
              <a:rPr sz="1700" b="1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404040"/>
                </a:solidFill>
                <a:latin typeface="Calibri"/>
                <a:cs typeface="Calibri"/>
              </a:rPr>
              <a:t>Insurance"</a:t>
            </a:r>
            <a:r>
              <a:rPr sz="1700" b="1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button</a:t>
            </a:r>
            <a:r>
              <a:rPr sz="17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click.</a:t>
            </a:r>
            <a:r>
              <a:rPr sz="17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Validates</a:t>
            </a:r>
            <a:r>
              <a:rPr sz="17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required</a:t>
            </a:r>
            <a:r>
              <a:rPr sz="17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form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fields.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739"/>
              </a:spcBef>
              <a:buClr>
                <a:srgbClr val="A42F0F"/>
              </a:buClr>
              <a:buSzPct val="58823"/>
              <a:buFont typeface="Symbol"/>
              <a:buChar char=""/>
              <a:tabLst>
                <a:tab pos="354965" algn="l"/>
              </a:tabLst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validation</a:t>
            </a:r>
            <a:r>
              <a:rPr sz="17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fails,</a:t>
            </a:r>
            <a:r>
              <a:rPr sz="17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alert</a:t>
            </a:r>
            <a:r>
              <a:rPr sz="17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prompts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17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fill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missing</a:t>
            </a:r>
            <a:r>
              <a:rPr sz="17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details.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3)</a:t>
            </a:r>
            <a:r>
              <a:rPr sz="1700" spc="3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404040"/>
                </a:solidFill>
                <a:latin typeface="Calibri"/>
                <a:cs typeface="Calibri"/>
              </a:rPr>
              <a:t>Storing</a:t>
            </a:r>
            <a:r>
              <a:rPr sz="17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404040"/>
                </a:solidFill>
                <a:latin typeface="Calibri"/>
                <a:cs typeface="Calibri"/>
              </a:rPr>
              <a:t>Form</a:t>
            </a:r>
            <a:r>
              <a:rPr sz="1700" b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spc="-2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739"/>
              </a:spcBef>
              <a:buClr>
                <a:srgbClr val="A42F0F"/>
              </a:buClr>
              <a:buSzPct val="58823"/>
              <a:buFont typeface="Symbol"/>
              <a:buChar char=""/>
              <a:tabLst>
                <a:tab pos="354965" algn="l"/>
              </a:tabLst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Collects</a:t>
            </a:r>
            <a:r>
              <a:rPr sz="17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details</a:t>
            </a:r>
            <a:r>
              <a:rPr sz="17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such</a:t>
            </a:r>
            <a:r>
              <a:rPr sz="17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404040"/>
                </a:solidFill>
                <a:latin typeface="Calibri"/>
                <a:cs typeface="Calibri"/>
              </a:rPr>
              <a:t>name,</a:t>
            </a:r>
            <a:r>
              <a:rPr sz="1700" b="1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404040"/>
                </a:solidFill>
                <a:latin typeface="Calibri"/>
                <a:cs typeface="Calibri"/>
              </a:rPr>
              <a:t>Aadhaar</a:t>
            </a:r>
            <a:r>
              <a:rPr sz="1700" b="1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spc="-20" dirty="0">
                <a:solidFill>
                  <a:srgbClr val="404040"/>
                </a:solidFill>
                <a:latin typeface="Calibri"/>
                <a:cs typeface="Calibri"/>
              </a:rPr>
              <a:t>number,</a:t>
            </a:r>
            <a:r>
              <a:rPr sz="17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404040"/>
                </a:solidFill>
                <a:latin typeface="Calibri"/>
                <a:cs typeface="Calibri"/>
              </a:rPr>
              <a:t>contact</a:t>
            </a:r>
            <a:r>
              <a:rPr sz="1700" b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404040"/>
                </a:solidFill>
                <a:latin typeface="Calibri"/>
                <a:cs typeface="Calibri"/>
              </a:rPr>
              <a:t>details,</a:t>
            </a:r>
            <a:r>
              <a:rPr sz="17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404040"/>
                </a:solidFill>
                <a:latin typeface="Calibri"/>
                <a:cs typeface="Calibri"/>
              </a:rPr>
              <a:t>destination,</a:t>
            </a:r>
            <a:r>
              <a:rPr sz="17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7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404040"/>
                </a:solidFill>
                <a:latin typeface="Calibri"/>
                <a:cs typeface="Calibri"/>
              </a:rPr>
              <a:t>duration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739"/>
              </a:spcBef>
              <a:buClr>
                <a:srgbClr val="A42F0F"/>
              </a:buClr>
              <a:buSzPct val="58823"/>
              <a:buFont typeface="Symbol"/>
              <a:buChar char=""/>
              <a:tabLst>
                <a:tab pos="354965" algn="l"/>
              </a:tabLst>
            </a:pP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Generates</a:t>
            </a:r>
            <a:r>
              <a:rPr sz="17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404040"/>
                </a:solidFill>
                <a:latin typeface="Calibri"/>
                <a:cs typeface="Calibri"/>
              </a:rPr>
              <a:t>random</a:t>
            </a:r>
            <a:r>
              <a:rPr sz="1700" b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404040"/>
                </a:solidFill>
                <a:latin typeface="Calibri"/>
                <a:cs typeface="Calibri"/>
              </a:rPr>
              <a:t>policy</a:t>
            </a:r>
            <a:r>
              <a:rPr sz="1700" b="1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1700" b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404040"/>
                </a:solidFill>
                <a:latin typeface="Calibri"/>
                <a:cs typeface="Calibri"/>
              </a:rPr>
              <a:t>group</a:t>
            </a:r>
            <a:r>
              <a:rPr sz="1700" b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17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7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insurance.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739"/>
              </a:spcBef>
              <a:buClr>
                <a:srgbClr val="A42F0F"/>
              </a:buClr>
              <a:buSzPct val="58823"/>
              <a:buFont typeface="Symbol"/>
              <a:buChar char=""/>
              <a:tabLst>
                <a:tab pos="354965" algn="l"/>
              </a:tabLst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Saves</a:t>
            </a:r>
            <a:r>
              <a:rPr sz="17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17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404040"/>
                </a:solidFill>
                <a:latin typeface="Calibri"/>
                <a:cs typeface="Calibri"/>
              </a:rPr>
              <a:t>sessionStorage</a:t>
            </a:r>
            <a:r>
              <a:rPr sz="17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use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another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page.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7060" y="476250"/>
            <a:ext cx="9490710" cy="245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4)</a:t>
            </a:r>
            <a:r>
              <a:rPr sz="1800" spc="4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Calibri"/>
                <a:cs typeface="Calibri"/>
              </a:rPr>
              <a:t>Processing</a:t>
            </a:r>
            <a:r>
              <a:rPr sz="18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File</a:t>
            </a:r>
            <a:r>
              <a:rPr sz="1800" b="1" spc="-10" dirty="0">
                <a:solidFill>
                  <a:srgbClr val="404040"/>
                </a:solidFill>
                <a:latin typeface="Calibri"/>
                <a:cs typeface="Calibri"/>
              </a:rPr>
              <a:t> Uploads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955"/>
              </a:spcBef>
              <a:buClr>
                <a:srgbClr val="A42F0F"/>
              </a:buClr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Reads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stores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uploaded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files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(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ID</a:t>
            </a:r>
            <a:r>
              <a:rPr sz="1800" b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Calibri"/>
                <a:cs typeface="Calibri"/>
              </a:rPr>
              <a:t>Proof,</a:t>
            </a:r>
            <a:r>
              <a:rPr sz="18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Photo,</a:t>
            </a:r>
            <a:r>
              <a:rPr sz="1800" b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b="1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Signature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)</a:t>
            </a:r>
            <a:r>
              <a:rPr sz="18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Base64</a:t>
            </a:r>
            <a:r>
              <a:rPr sz="18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18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Calibri"/>
                <a:cs typeface="Calibri"/>
              </a:rPr>
              <a:t>sessionStorage</a:t>
            </a:r>
            <a:endParaRPr sz="1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55"/>
              </a:spcBef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FileReader().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5)</a:t>
            </a:r>
            <a:r>
              <a:rPr sz="1800" spc="3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Redirection</a:t>
            </a:r>
            <a:r>
              <a:rPr sz="1800" b="1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800" b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Confirmation</a:t>
            </a:r>
            <a:r>
              <a:rPr sz="1800" b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Calibri"/>
                <a:cs typeface="Calibri"/>
              </a:rPr>
              <a:t>Page</a:t>
            </a:r>
            <a:endParaRPr sz="1800">
              <a:latin typeface="Calibri"/>
              <a:cs typeface="Calibri"/>
            </a:endParaRPr>
          </a:p>
          <a:p>
            <a:pPr marL="355600" marR="513080" indent="-342900">
              <a:lnSpc>
                <a:spcPct val="106700"/>
              </a:lnSpc>
              <a:spcBef>
                <a:spcPts val="1815"/>
              </a:spcBef>
              <a:buClr>
                <a:srgbClr val="A42F0F"/>
              </a:buClr>
              <a:buSzPct val="55555"/>
              <a:buFont typeface="Symbol"/>
              <a:buChar char=""/>
              <a:tabLst>
                <a:tab pos="355600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Once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form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files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stored,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script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redirects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confirmation.html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for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further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processing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display.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0295" y="456057"/>
            <a:ext cx="3149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250" dirty="0">
                <a:uFill>
                  <a:solidFill>
                    <a:srgbClr val="252525"/>
                  </a:solidFill>
                </a:uFill>
              </a:rPr>
              <a:t>GIFT</a:t>
            </a:r>
            <a:r>
              <a:rPr sz="2400" u="sng" spc="-135" dirty="0">
                <a:uFill>
                  <a:solidFill>
                    <a:srgbClr val="252525"/>
                  </a:solidFill>
                </a:uFill>
              </a:rPr>
              <a:t> </a:t>
            </a:r>
            <a:r>
              <a:rPr sz="2400" u="sng" dirty="0">
                <a:uFill>
                  <a:solidFill>
                    <a:srgbClr val="252525"/>
                  </a:solidFill>
                </a:uFill>
              </a:rPr>
              <a:t>CARD</a:t>
            </a:r>
            <a:r>
              <a:rPr sz="2400" u="sng" spc="-125" dirty="0">
                <a:uFill>
                  <a:solidFill>
                    <a:srgbClr val="252525"/>
                  </a:solidFill>
                </a:uFill>
              </a:rPr>
              <a:t> </a:t>
            </a:r>
            <a:r>
              <a:rPr sz="2400" u="sng" spc="-60" dirty="0">
                <a:uFill>
                  <a:solidFill>
                    <a:srgbClr val="252525"/>
                  </a:solidFill>
                </a:uFill>
              </a:rPr>
              <a:t>WEBPAGE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2131948" y="965835"/>
            <a:ext cx="7825740" cy="5849620"/>
            <a:chOff x="2131948" y="965835"/>
            <a:chExt cx="7825740" cy="58496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52801" y="3620532"/>
              <a:ext cx="5460746" cy="31943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31948" y="965835"/>
              <a:ext cx="7825485" cy="21037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78979" y="1876044"/>
              <a:ext cx="1395983" cy="205892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117588" y="1967484"/>
              <a:ext cx="1245870" cy="1908810"/>
            </a:xfrm>
            <a:custGeom>
              <a:avLst/>
              <a:gdLst/>
              <a:ahLst/>
              <a:cxnLst/>
              <a:rect l="l" t="t" r="r" b="b"/>
              <a:pathLst>
                <a:path w="1245870" h="1908810">
                  <a:moveTo>
                    <a:pt x="1194737" y="57907"/>
                  </a:moveTo>
                  <a:lnTo>
                    <a:pt x="3301" y="1889505"/>
                  </a:lnTo>
                  <a:lnTo>
                    <a:pt x="0" y="1894713"/>
                  </a:lnTo>
                  <a:lnTo>
                    <a:pt x="1552" y="1901697"/>
                  </a:lnTo>
                  <a:lnTo>
                    <a:pt x="1719" y="1901697"/>
                  </a:lnTo>
                  <a:lnTo>
                    <a:pt x="11810" y="1908302"/>
                  </a:lnTo>
                  <a:lnTo>
                    <a:pt x="18668" y="1906777"/>
                  </a:lnTo>
                  <a:lnTo>
                    <a:pt x="1213285" y="69965"/>
                  </a:lnTo>
                  <a:lnTo>
                    <a:pt x="1194737" y="57907"/>
                  </a:lnTo>
                  <a:close/>
                </a:path>
                <a:path w="1245870" h="1908810">
                  <a:moveTo>
                    <a:pt x="1240985" y="40639"/>
                  </a:moveTo>
                  <a:lnTo>
                    <a:pt x="1211833" y="40639"/>
                  </a:lnTo>
                  <a:lnTo>
                    <a:pt x="1217040" y="43941"/>
                  </a:lnTo>
                  <a:lnTo>
                    <a:pt x="1222120" y="47243"/>
                  </a:lnTo>
                  <a:lnTo>
                    <a:pt x="1223644" y="54101"/>
                  </a:lnTo>
                  <a:lnTo>
                    <a:pt x="1220215" y="59308"/>
                  </a:lnTo>
                  <a:lnTo>
                    <a:pt x="1213285" y="69965"/>
                  </a:lnTo>
                  <a:lnTo>
                    <a:pt x="1235963" y="84708"/>
                  </a:lnTo>
                  <a:lnTo>
                    <a:pt x="1240985" y="40639"/>
                  </a:lnTo>
                  <a:close/>
                </a:path>
                <a:path w="1245870" h="1908810">
                  <a:moveTo>
                    <a:pt x="1211833" y="40639"/>
                  </a:moveTo>
                  <a:lnTo>
                    <a:pt x="1204976" y="42037"/>
                  </a:lnTo>
                  <a:lnTo>
                    <a:pt x="1201673" y="47243"/>
                  </a:lnTo>
                  <a:lnTo>
                    <a:pt x="1194737" y="57907"/>
                  </a:lnTo>
                  <a:lnTo>
                    <a:pt x="1213285" y="69965"/>
                  </a:lnTo>
                  <a:lnTo>
                    <a:pt x="1220215" y="59308"/>
                  </a:lnTo>
                  <a:lnTo>
                    <a:pt x="1223644" y="54101"/>
                  </a:lnTo>
                  <a:lnTo>
                    <a:pt x="1222120" y="47243"/>
                  </a:lnTo>
                  <a:lnTo>
                    <a:pt x="1217040" y="43941"/>
                  </a:lnTo>
                  <a:lnTo>
                    <a:pt x="1211833" y="40639"/>
                  </a:lnTo>
                  <a:close/>
                </a:path>
                <a:path w="1245870" h="1908810">
                  <a:moveTo>
                    <a:pt x="1245615" y="0"/>
                  </a:moveTo>
                  <a:lnTo>
                    <a:pt x="1172082" y="43179"/>
                  </a:lnTo>
                  <a:lnTo>
                    <a:pt x="1194737" y="57907"/>
                  </a:lnTo>
                  <a:lnTo>
                    <a:pt x="1201673" y="47243"/>
                  </a:lnTo>
                  <a:lnTo>
                    <a:pt x="1204976" y="42037"/>
                  </a:lnTo>
                  <a:lnTo>
                    <a:pt x="1211833" y="40639"/>
                  </a:lnTo>
                  <a:lnTo>
                    <a:pt x="1240985" y="40639"/>
                  </a:lnTo>
                  <a:lnTo>
                    <a:pt x="1245615" y="0"/>
                  </a:lnTo>
                  <a:close/>
                </a:path>
              </a:pathLst>
            </a:custGeom>
            <a:solidFill>
              <a:srgbClr val="A42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9198" y="271017"/>
            <a:ext cx="21818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75" dirty="0"/>
              <a:t>HTML</a:t>
            </a:r>
            <a:r>
              <a:rPr sz="2400" spc="-180" dirty="0"/>
              <a:t> </a:t>
            </a:r>
            <a:r>
              <a:rPr sz="2400" dirty="0"/>
              <a:t>AND</a:t>
            </a:r>
            <a:r>
              <a:rPr sz="2400" spc="-185" dirty="0"/>
              <a:t> </a:t>
            </a:r>
            <a:r>
              <a:rPr sz="2400" spc="-170" dirty="0"/>
              <a:t>CSS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671320" y="1069593"/>
            <a:ext cx="9508490" cy="5320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2565" indent="-198755">
              <a:lnSpc>
                <a:spcPts val="2055"/>
              </a:lnSpc>
              <a:buSzPct val="103125"/>
              <a:buAutoNum type="arabicPeriod"/>
              <a:tabLst>
                <a:tab pos="202565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Global</a:t>
            </a:r>
            <a:r>
              <a:rPr sz="1600" b="1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Styles</a:t>
            </a:r>
            <a:endParaRPr sz="1600">
              <a:latin typeface="Arial"/>
              <a:cs typeface="Arial"/>
            </a:endParaRPr>
          </a:p>
          <a:p>
            <a:pPr marL="756285" marR="514984" lvl="1" indent="-287020">
              <a:lnSpc>
                <a:spcPts val="1680"/>
              </a:lnSpc>
              <a:spcBef>
                <a:spcPts val="1810"/>
              </a:spcBef>
              <a:buClr>
                <a:srgbClr val="A42F0F"/>
              </a:buClr>
              <a:buSzPct val="62500"/>
              <a:buFont typeface="Courier New"/>
              <a:buChar char="o"/>
              <a:tabLst>
                <a:tab pos="756285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*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{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margin: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0;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padding: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0;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box-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sizing: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border-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box;</a:t>
            </a:r>
            <a:r>
              <a:rPr sz="1600" spc="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font-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family:</a:t>
            </a:r>
            <a:r>
              <a:rPr sz="1600" spc="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'Poppins',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sans-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serif;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}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ensures consistency.</a:t>
            </a:r>
            <a:endParaRPr sz="16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1535"/>
              </a:spcBef>
              <a:buClr>
                <a:srgbClr val="A42F0F"/>
              </a:buClr>
              <a:buSzPct val="62500"/>
              <a:buFont typeface="Courier New"/>
              <a:buChar char="o"/>
              <a:tabLst>
                <a:tab pos="756285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transition: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all</a:t>
            </a:r>
            <a:r>
              <a:rPr sz="1600" spc="-7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0.3s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ease;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enables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smooth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animations.</a:t>
            </a:r>
            <a:endParaRPr sz="1600">
              <a:latin typeface="Arial MT"/>
              <a:cs typeface="Arial MT"/>
            </a:endParaRPr>
          </a:p>
          <a:p>
            <a:pPr marL="181610" indent="-176530">
              <a:lnSpc>
                <a:spcPct val="100000"/>
              </a:lnSpc>
              <a:spcBef>
                <a:spcPts val="1550"/>
              </a:spcBef>
              <a:buSzPct val="90625"/>
              <a:buAutoNum type="arabicPeriod"/>
              <a:tabLst>
                <a:tab pos="181610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Header</a:t>
            </a:r>
            <a:r>
              <a:rPr sz="16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Styling</a:t>
            </a:r>
            <a:endParaRPr sz="16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545"/>
              </a:spcBef>
              <a:buClr>
                <a:srgbClr val="A42F0F"/>
              </a:buClr>
              <a:buSzPct val="62500"/>
              <a:buFont typeface="Courier New"/>
              <a:buChar char="o"/>
              <a:tabLst>
                <a:tab pos="756285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position: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fixed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keeps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header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at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top.</a:t>
            </a:r>
            <a:endParaRPr sz="1600">
              <a:latin typeface="Arial MT"/>
              <a:cs typeface="Arial MT"/>
            </a:endParaRPr>
          </a:p>
          <a:p>
            <a:pPr marL="181610" indent="-175895">
              <a:lnSpc>
                <a:spcPct val="100000"/>
              </a:lnSpc>
              <a:spcBef>
                <a:spcPts val="1560"/>
              </a:spcBef>
              <a:buSzPct val="90625"/>
              <a:buAutoNum type="arabicPeriod"/>
              <a:tabLst>
                <a:tab pos="181610" algn="l"/>
              </a:tabLst>
            </a:pP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Typography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 and</a:t>
            </a:r>
            <a:r>
              <a:rPr sz="1600" b="1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Effects</a:t>
            </a:r>
            <a:endParaRPr sz="1600">
              <a:latin typeface="Arial"/>
              <a:cs typeface="Arial"/>
            </a:endParaRPr>
          </a:p>
          <a:p>
            <a:pPr marL="756285" marR="5080" lvl="1" indent="-287020">
              <a:lnSpc>
                <a:spcPts val="1670"/>
              </a:lnSpc>
              <a:spcBef>
                <a:spcPts val="1814"/>
              </a:spcBef>
              <a:buClr>
                <a:srgbClr val="A42F0F"/>
              </a:buClr>
              <a:buSzPct val="62500"/>
              <a:buFont typeface="Courier New"/>
              <a:buChar char="o"/>
              <a:tabLst>
                <a:tab pos="756285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.slogan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{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text-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transform:</a:t>
            </a:r>
            <a:r>
              <a:rPr sz="1600" spc="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uppercase;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letter-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spacing: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1px;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font-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family:</a:t>
            </a:r>
            <a:r>
              <a:rPr sz="16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'Merriweather', serif;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}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gives</a:t>
            </a:r>
            <a:r>
              <a:rPr sz="16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a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professional</a:t>
            </a:r>
            <a:r>
              <a:rPr sz="1600" spc="-7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look.</a:t>
            </a:r>
            <a:endParaRPr sz="16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1535"/>
              </a:spcBef>
              <a:buClr>
                <a:srgbClr val="A42F0F"/>
              </a:buClr>
              <a:buSzPct val="62500"/>
              <a:buFont typeface="Courier New"/>
              <a:buChar char="o"/>
              <a:tabLst>
                <a:tab pos="756285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.logo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{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font-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size: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24px;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font-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weight:</a:t>
            </a:r>
            <a:r>
              <a:rPr sz="1600" spc="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600;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}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makes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logo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stand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out.</a:t>
            </a:r>
            <a:endParaRPr sz="1600">
              <a:latin typeface="Arial MT"/>
              <a:cs typeface="Arial MT"/>
            </a:endParaRPr>
          </a:p>
          <a:p>
            <a:pPr marL="181610" indent="-175895">
              <a:lnSpc>
                <a:spcPct val="100000"/>
              </a:lnSpc>
              <a:spcBef>
                <a:spcPts val="1545"/>
              </a:spcBef>
              <a:buSzPct val="90625"/>
              <a:buAutoNum type="arabicPeriod"/>
              <a:tabLst>
                <a:tab pos="181610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Interactive</a:t>
            </a:r>
            <a:r>
              <a:rPr sz="16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Buttons</a:t>
            </a:r>
            <a:endParaRPr sz="16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565"/>
              </a:spcBef>
              <a:buClr>
                <a:srgbClr val="A42F0F"/>
              </a:buClr>
              <a:buSzPct val="62500"/>
              <a:buFont typeface="Courier New"/>
              <a:buChar char="o"/>
              <a:tabLst>
                <a:tab pos="756285" algn="l"/>
              </a:tabLst>
            </a:pP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.btn-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login:hover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{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background: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white;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color: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black;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}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adds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hover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effects.</a:t>
            </a:r>
            <a:endParaRPr sz="1600">
              <a:latin typeface="Arial MT"/>
              <a:cs typeface="Arial MT"/>
            </a:endParaRPr>
          </a:p>
          <a:p>
            <a:pPr marL="756285" marR="93980" lvl="1" indent="-287020">
              <a:lnSpc>
                <a:spcPts val="1670"/>
              </a:lnSpc>
              <a:spcBef>
                <a:spcPts val="1810"/>
              </a:spcBef>
              <a:buClr>
                <a:srgbClr val="A42F0F"/>
              </a:buClr>
              <a:buSzPct val="62500"/>
              <a:buFont typeface="Courier New"/>
              <a:buChar char="o"/>
              <a:tabLst>
                <a:tab pos="756285" algn="l"/>
              </a:tabLst>
            </a:pP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.refresh-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btn {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background: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linear-gradient(45deg,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#ff7300,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#ff4500);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animation: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pulse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1.5s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infinite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alternate;</a:t>
            </a:r>
            <a:r>
              <a:rPr sz="16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}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gives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glowing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effect.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0594" y="90677"/>
            <a:ext cx="9713595" cy="6447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1610" indent="-171450">
              <a:lnSpc>
                <a:spcPct val="100000"/>
              </a:lnSpc>
              <a:spcBef>
                <a:spcPts val="95"/>
              </a:spcBef>
              <a:buClr>
                <a:srgbClr val="404040"/>
              </a:buClr>
              <a:buSzPct val="93750"/>
              <a:buFont typeface="Arial"/>
              <a:buAutoNum type="arabicPeriod" startAt="5"/>
              <a:tabLst>
                <a:tab pos="181610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QR</a:t>
            </a:r>
            <a:r>
              <a:rPr sz="16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Code</a:t>
            </a:r>
            <a:r>
              <a:rPr sz="16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Styling</a:t>
            </a:r>
            <a:endParaRPr sz="1600">
              <a:latin typeface="Arial"/>
              <a:cs typeface="Arial"/>
            </a:endParaRPr>
          </a:p>
          <a:p>
            <a:pPr marL="756285" lvl="1" indent="-286385">
              <a:lnSpc>
                <a:spcPts val="1795"/>
              </a:lnSpc>
              <a:spcBef>
                <a:spcPts val="1550"/>
              </a:spcBef>
              <a:buClr>
                <a:srgbClr val="A42F0F"/>
              </a:buClr>
              <a:buSzPct val="62500"/>
              <a:buFont typeface="Courier New"/>
              <a:buChar char="o"/>
              <a:tabLst>
                <a:tab pos="756285" algn="l"/>
              </a:tabLst>
            </a:pP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.qr-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container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{</a:t>
            </a:r>
            <a:r>
              <a:rPr sz="16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background: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rgba(255, 255,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255,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0.2);</a:t>
            </a:r>
            <a:r>
              <a:rPr sz="16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padding: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20px;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border-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radius:</a:t>
            </a:r>
            <a:r>
              <a:rPr sz="1600" spc="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15px; 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}</a:t>
            </a:r>
            <a:endParaRPr sz="1600">
              <a:latin typeface="Arial MT"/>
              <a:cs typeface="Arial MT"/>
            </a:endParaRPr>
          </a:p>
          <a:p>
            <a:pPr marL="756285">
              <a:lnSpc>
                <a:spcPts val="1795"/>
              </a:lnSpc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creates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glass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effect.</a:t>
            </a:r>
            <a:endParaRPr sz="1600">
              <a:latin typeface="Arial MT"/>
              <a:cs typeface="Arial MT"/>
            </a:endParaRPr>
          </a:p>
          <a:p>
            <a:pPr marL="756285" marR="830580" lvl="1" indent="-287020">
              <a:lnSpc>
                <a:spcPts val="1670"/>
              </a:lnSpc>
              <a:spcBef>
                <a:spcPts val="1820"/>
              </a:spcBef>
              <a:buClr>
                <a:srgbClr val="A42F0F"/>
              </a:buClr>
              <a:buSzPct val="62500"/>
              <a:buFont typeface="Courier New"/>
              <a:buChar char="o"/>
              <a:tabLst>
                <a:tab pos="756285" algn="l"/>
              </a:tabLst>
            </a:pP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.qr-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container:hover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{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transform: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scale(1.1);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box-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shadow: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0px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0px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30px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rgba(255,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255,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255,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0.3);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}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enhances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hover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interaction.</a:t>
            </a:r>
            <a:endParaRPr sz="1600">
              <a:latin typeface="Arial MT"/>
              <a:cs typeface="Arial MT"/>
            </a:endParaRPr>
          </a:p>
          <a:p>
            <a:pPr marL="181610" indent="-171450">
              <a:lnSpc>
                <a:spcPct val="100000"/>
              </a:lnSpc>
              <a:spcBef>
                <a:spcPts val="1535"/>
              </a:spcBef>
              <a:buSzPct val="93750"/>
              <a:buAutoNum type="arabicPeriod" startAt="5"/>
              <a:tabLst>
                <a:tab pos="181610" algn="l"/>
              </a:tabLst>
            </a:pP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Animations</a:t>
            </a:r>
            <a:endParaRPr sz="16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550"/>
              </a:spcBef>
              <a:buClr>
                <a:srgbClr val="A42F0F"/>
              </a:buClr>
              <a:buSzPct val="62500"/>
              <a:buFont typeface="Courier New"/>
              <a:buChar char="o"/>
              <a:tabLst>
                <a:tab pos="756285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@keyframes</a:t>
            </a:r>
            <a:r>
              <a:rPr sz="1600" spc="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glow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creates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pulsing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glow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effect.</a:t>
            </a:r>
            <a:endParaRPr sz="1600">
              <a:latin typeface="Arial MT"/>
              <a:cs typeface="Arial MT"/>
            </a:endParaRPr>
          </a:p>
          <a:p>
            <a:pPr marL="12700" marR="2790825" lvl="1" indent="743585">
              <a:lnSpc>
                <a:spcPts val="3479"/>
              </a:lnSpc>
              <a:spcBef>
                <a:spcPts val="365"/>
              </a:spcBef>
              <a:buClr>
                <a:srgbClr val="A42F0F"/>
              </a:buClr>
              <a:buSzPct val="62500"/>
              <a:buFont typeface="Courier New"/>
              <a:buChar char="o"/>
              <a:tabLst>
                <a:tab pos="756285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@keyframes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floating</a:t>
            </a:r>
            <a:r>
              <a:rPr sz="1600" spc="-7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moves</a:t>
            </a:r>
            <a:r>
              <a:rPr sz="16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background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particles</a:t>
            </a:r>
            <a:r>
              <a:rPr sz="1600" spc="-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for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6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dynamic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feel. </a:t>
            </a:r>
            <a:r>
              <a:rPr sz="16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 MT"/>
                <a:cs typeface="Arial MT"/>
              </a:rPr>
              <a:t>JAVASCRIPT</a:t>
            </a:r>
            <a:endParaRPr sz="1600">
              <a:latin typeface="Arial MT"/>
              <a:cs typeface="Arial MT"/>
            </a:endParaRPr>
          </a:p>
          <a:p>
            <a:pPr marL="195580" indent="-187325">
              <a:lnSpc>
                <a:spcPct val="100000"/>
              </a:lnSpc>
              <a:spcBef>
                <a:spcPts val="150"/>
              </a:spcBef>
              <a:buSzPct val="94444"/>
              <a:buFont typeface="Calibri"/>
              <a:buAutoNum type="arabicParenR"/>
              <a:tabLst>
                <a:tab pos="195580" algn="l"/>
              </a:tabLst>
            </a:pPr>
            <a:r>
              <a:rPr sz="1800" b="1" spc="-10" dirty="0">
                <a:latin typeface="Arial"/>
                <a:cs typeface="Arial"/>
              </a:rPr>
              <a:t>generateQRCode()</a:t>
            </a:r>
            <a:endParaRPr sz="1800">
              <a:latin typeface="Arial"/>
              <a:cs typeface="Arial"/>
            </a:endParaRPr>
          </a:p>
          <a:p>
            <a:pPr marL="354965" lvl="1" indent="-342265">
              <a:lnSpc>
                <a:spcPct val="100000"/>
              </a:lnSpc>
              <a:spcBef>
                <a:spcPts val="960"/>
              </a:spcBef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Clears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previously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generated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QR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code.</a:t>
            </a:r>
            <a:endParaRPr sz="1800">
              <a:latin typeface="Arial MT"/>
              <a:cs typeface="Arial MT"/>
            </a:endParaRPr>
          </a:p>
          <a:p>
            <a:pPr marL="354965" lvl="1" indent="-342265">
              <a:lnSpc>
                <a:spcPct val="100000"/>
              </a:lnSpc>
              <a:spcBef>
                <a:spcPts val="950"/>
              </a:spcBef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Generates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unique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appending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random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string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base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URL.</a:t>
            </a:r>
            <a:endParaRPr sz="1800">
              <a:latin typeface="Arial MT"/>
              <a:cs typeface="Arial MT"/>
            </a:endParaRPr>
          </a:p>
          <a:p>
            <a:pPr marL="354965" lvl="1" indent="-342265">
              <a:lnSpc>
                <a:spcPct val="100000"/>
              </a:lnSpc>
              <a:spcBef>
                <a:spcPts val="950"/>
              </a:spcBef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Creates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generated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QRCode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library.</a:t>
            </a:r>
            <a:endParaRPr sz="1800">
              <a:latin typeface="Arial MT"/>
              <a:cs typeface="Arial MT"/>
            </a:endParaRPr>
          </a:p>
          <a:p>
            <a:pPr marL="12700" marR="5354320" lvl="1" indent="342265">
              <a:lnSpc>
                <a:spcPts val="3120"/>
              </a:lnSpc>
              <a:spcBef>
                <a:spcPts val="250"/>
              </a:spcBef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Displays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qrcode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div. </a:t>
            </a:r>
            <a:r>
              <a:rPr sz="1800" spc="-10" dirty="0">
                <a:latin typeface="Arial MT"/>
                <a:cs typeface="Arial MT"/>
              </a:rPr>
              <a:t>2)</a:t>
            </a:r>
            <a:r>
              <a:rPr sz="1800" b="1" spc="-10" dirty="0">
                <a:latin typeface="Arial"/>
                <a:cs typeface="Arial"/>
              </a:rPr>
              <a:t>window.onload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generateQRCode</a:t>
            </a:r>
            <a:endParaRPr sz="1800">
              <a:latin typeface="Arial"/>
              <a:cs typeface="Arial"/>
            </a:endParaRPr>
          </a:p>
          <a:p>
            <a:pPr marL="354965" lvl="1" indent="-342265">
              <a:lnSpc>
                <a:spcPct val="100000"/>
              </a:lnSpc>
              <a:spcBef>
                <a:spcPts val="685"/>
              </a:spcBef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Calls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generateQRCode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automatically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page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loads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ensure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code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800" dirty="0">
                <a:latin typeface="Arial MT"/>
                <a:cs typeface="Arial MT"/>
              </a:rPr>
              <a:t>is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displayed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immediately.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87626" y="302514"/>
            <a:ext cx="80283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13100" algn="l"/>
              </a:tabLst>
            </a:pP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3)We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are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also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importing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	</a:t>
            </a:r>
            <a:r>
              <a:rPr sz="1800" spc="-45" dirty="0">
                <a:solidFill>
                  <a:srgbClr val="404040"/>
                </a:solidFill>
                <a:latin typeface="Verdana"/>
                <a:cs typeface="Verdana"/>
              </a:rPr>
              <a:t>Qr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25" dirty="0">
                <a:solidFill>
                  <a:srgbClr val="404040"/>
                </a:solidFill>
                <a:latin typeface="Verdana"/>
                <a:cs typeface="Verdana"/>
              </a:rPr>
              <a:t>code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generator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from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different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website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(</a:t>
            </a:r>
            <a:r>
              <a:rPr sz="1800" u="sng" spc="-20" dirty="0">
                <a:solidFill>
                  <a:srgbClr val="FA4917"/>
                </a:solidFill>
                <a:uFill>
                  <a:solidFill>
                    <a:srgbClr val="FA4917"/>
                  </a:solidFill>
                </a:uFill>
                <a:latin typeface="Verdana"/>
                <a:cs typeface="Verdana"/>
                <a:hlinkClick r:id="rId2"/>
              </a:rPr>
              <a:t>https://cdnjs.cloudflare.com/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14375"/>
            <a:ext cx="9077325" cy="5989955"/>
            <a:chOff x="0" y="714375"/>
            <a:chExt cx="9077325" cy="59899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9829" y="3251263"/>
              <a:ext cx="6711060" cy="345262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0327" y="874140"/>
              <a:ext cx="7476871" cy="20509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96128" y="2421623"/>
              <a:ext cx="614197" cy="107900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711952" y="2512060"/>
              <a:ext cx="465455" cy="929640"/>
            </a:xfrm>
            <a:custGeom>
              <a:avLst/>
              <a:gdLst/>
              <a:ahLst/>
              <a:cxnLst/>
              <a:rect l="l" t="t" r="r" b="b"/>
              <a:pathLst>
                <a:path w="465454" h="929639">
                  <a:moveTo>
                    <a:pt x="44079" y="63423"/>
                  </a:moveTo>
                  <a:lnTo>
                    <a:pt x="24171" y="73266"/>
                  </a:lnTo>
                  <a:lnTo>
                    <a:pt x="442595" y="921892"/>
                  </a:lnTo>
                  <a:lnTo>
                    <a:pt x="445262" y="927353"/>
                  </a:lnTo>
                  <a:lnTo>
                    <a:pt x="451993" y="929639"/>
                  </a:lnTo>
                  <a:lnTo>
                    <a:pt x="457453" y="926845"/>
                  </a:lnTo>
                  <a:lnTo>
                    <a:pt x="462914" y="924178"/>
                  </a:lnTo>
                  <a:lnTo>
                    <a:pt x="465200" y="917575"/>
                  </a:lnTo>
                  <a:lnTo>
                    <a:pt x="462534" y="911987"/>
                  </a:lnTo>
                  <a:lnTo>
                    <a:pt x="44079" y="63423"/>
                  </a:lnTo>
                  <a:close/>
                </a:path>
                <a:path w="465454" h="929639">
                  <a:moveTo>
                    <a:pt x="508" y="0"/>
                  </a:moveTo>
                  <a:lnTo>
                    <a:pt x="244" y="44195"/>
                  </a:lnTo>
                  <a:lnTo>
                    <a:pt x="197" y="52069"/>
                  </a:lnTo>
                  <a:lnTo>
                    <a:pt x="71" y="73266"/>
                  </a:lnTo>
                  <a:lnTo>
                    <a:pt x="0" y="85216"/>
                  </a:lnTo>
                  <a:lnTo>
                    <a:pt x="24171" y="73266"/>
                  </a:lnTo>
                  <a:lnTo>
                    <a:pt x="18542" y="61849"/>
                  </a:lnTo>
                  <a:lnTo>
                    <a:pt x="15875" y="56387"/>
                  </a:lnTo>
                  <a:lnTo>
                    <a:pt x="18161" y="49656"/>
                  </a:lnTo>
                  <a:lnTo>
                    <a:pt x="23622" y="46989"/>
                  </a:lnTo>
                  <a:lnTo>
                    <a:pt x="29210" y="44195"/>
                  </a:lnTo>
                  <a:lnTo>
                    <a:pt x="58781" y="44195"/>
                  </a:lnTo>
                  <a:lnTo>
                    <a:pt x="508" y="0"/>
                  </a:lnTo>
                  <a:close/>
                </a:path>
                <a:path w="465454" h="929639">
                  <a:moveTo>
                    <a:pt x="29210" y="44195"/>
                  </a:moveTo>
                  <a:lnTo>
                    <a:pt x="23622" y="46989"/>
                  </a:lnTo>
                  <a:lnTo>
                    <a:pt x="18161" y="49656"/>
                  </a:lnTo>
                  <a:lnTo>
                    <a:pt x="15875" y="56387"/>
                  </a:lnTo>
                  <a:lnTo>
                    <a:pt x="18542" y="61849"/>
                  </a:lnTo>
                  <a:lnTo>
                    <a:pt x="24171" y="73266"/>
                  </a:lnTo>
                  <a:lnTo>
                    <a:pt x="44079" y="63423"/>
                  </a:lnTo>
                  <a:lnTo>
                    <a:pt x="38481" y="52069"/>
                  </a:lnTo>
                  <a:lnTo>
                    <a:pt x="35813" y="46481"/>
                  </a:lnTo>
                  <a:lnTo>
                    <a:pt x="29210" y="44195"/>
                  </a:lnTo>
                  <a:close/>
                </a:path>
                <a:path w="465454" h="929639">
                  <a:moveTo>
                    <a:pt x="58781" y="44195"/>
                  </a:moveTo>
                  <a:lnTo>
                    <a:pt x="29210" y="44195"/>
                  </a:lnTo>
                  <a:lnTo>
                    <a:pt x="35813" y="46481"/>
                  </a:lnTo>
                  <a:lnTo>
                    <a:pt x="38481" y="52069"/>
                  </a:lnTo>
                  <a:lnTo>
                    <a:pt x="44079" y="63423"/>
                  </a:lnTo>
                  <a:lnTo>
                    <a:pt x="68325" y="51435"/>
                  </a:lnTo>
                  <a:lnTo>
                    <a:pt x="58781" y="44195"/>
                  </a:lnTo>
                  <a:close/>
                </a:path>
              </a:pathLst>
            </a:custGeom>
            <a:solidFill>
              <a:srgbClr val="A42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037" rIns="0" bIns="0" rtlCol="0">
            <a:spAutoFit/>
          </a:bodyPr>
          <a:lstStyle/>
          <a:p>
            <a:pPr marL="382270">
              <a:lnSpc>
                <a:spcPct val="100000"/>
              </a:lnSpc>
              <a:spcBef>
                <a:spcPts val="100"/>
              </a:spcBef>
            </a:pPr>
            <a:r>
              <a:rPr sz="2400" u="sng" spc="-130" dirty="0">
                <a:uFill>
                  <a:solidFill>
                    <a:srgbClr val="252525"/>
                  </a:solidFill>
                </a:uFill>
              </a:rPr>
              <a:t>Travel</a:t>
            </a:r>
            <a:r>
              <a:rPr sz="2400" u="sng" spc="-180" dirty="0">
                <a:uFill>
                  <a:solidFill>
                    <a:srgbClr val="252525"/>
                  </a:solidFill>
                </a:uFill>
              </a:rPr>
              <a:t> </a:t>
            </a:r>
            <a:r>
              <a:rPr sz="2400" u="sng" spc="45" dirty="0">
                <a:uFill>
                  <a:solidFill>
                    <a:srgbClr val="252525"/>
                  </a:solidFill>
                </a:uFill>
              </a:rPr>
              <a:t>companion</a:t>
            </a:r>
            <a:r>
              <a:rPr sz="2400" u="sng" spc="-195" dirty="0">
                <a:uFill>
                  <a:solidFill>
                    <a:srgbClr val="252525"/>
                  </a:solidFill>
                </a:uFill>
              </a:rPr>
              <a:t> </a:t>
            </a:r>
            <a:r>
              <a:rPr sz="2400" u="sng" spc="100" dirty="0">
                <a:uFill>
                  <a:solidFill>
                    <a:srgbClr val="252525"/>
                  </a:solidFill>
                </a:uFill>
              </a:rPr>
              <a:t>webpage</a:t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1733" y="96393"/>
            <a:ext cx="12287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sng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JAVASCRIPT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81733" y="600836"/>
            <a:ext cx="9733915" cy="5974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4625" indent="-166370">
              <a:lnSpc>
                <a:spcPct val="100000"/>
              </a:lnSpc>
              <a:spcBef>
                <a:spcPts val="95"/>
              </a:spcBef>
              <a:buSzPct val="93750"/>
              <a:buFont typeface="Calibri"/>
              <a:buAutoNum type="arabicParenR"/>
              <a:tabLst>
                <a:tab pos="174625" algn="l"/>
              </a:tabLst>
            </a:pPr>
            <a:r>
              <a:rPr sz="1600" b="1" spc="-10" dirty="0">
                <a:solidFill>
                  <a:srgbClr val="404040"/>
                </a:solidFill>
                <a:latin typeface="Calibri"/>
                <a:cs typeface="Calibri"/>
              </a:rPr>
              <a:t>DOMContentLoaded</a:t>
            </a:r>
            <a:r>
              <a:rPr sz="1600" b="1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404040"/>
                </a:solidFill>
                <a:latin typeface="Calibri"/>
                <a:cs typeface="Calibri"/>
              </a:rPr>
              <a:t>Event</a:t>
            </a:r>
            <a:endParaRPr sz="1600">
              <a:latin typeface="Calibri"/>
              <a:cs typeface="Calibri"/>
            </a:endParaRPr>
          </a:p>
          <a:p>
            <a:pPr marL="354965" lvl="1" indent="-342265">
              <a:lnSpc>
                <a:spcPts val="1795"/>
              </a:lnSpc>
              <a:spcBef>
                <a:spcPts val="1560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4965" algn="l"/>
              </a:tabLst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document.addEventListener("DOMContentLoaded",</a:t>
            </a:r>
            <a:r>
              <a:rPr sz="16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()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=&gt; {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preloadCompanions();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loadCompanions();</a:t>
            </a:r>
            <a:r>
              <a:rPr sz="1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});Executes</a:t>
            </a:r>
            <a:endParaRPr sz="1600">
              <a:latin typeface="Calibri"/>
              <a:cs typeface="Calibri"/>
            </a:endParaRPr>
          </a:p>
          <a:p>
            <a:pPr marL="355600">
              <a:lnSpc>
                <a:spcPts val="1795"/>
              </a:lnSpc>
            </a:pP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when</a:t>
            </a:r>
            <a:r>
              <a:rPr sz="1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HTML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document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fully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loaded.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2)</a:t>
            </a:r>
            <a:r>
              <a:rPr sz="1600" b="1" spc="-10" dirty="0">
                <a:solidFill>
                  <a:srgbClr val="404040"/>
                </a:solidFill>
                <a:latin typeface="Calibri"/>
                <a:cs typeface="Calibri"/>
              </a:rPr>
              <a:t>preloadCompanions()</a:t>
            </a:r>
            <a:endParaRPr sz="1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560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4965" algn="l"/>
              </a:tabLst>
            </a:pP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Checks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companions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list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exists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localStorage.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not,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initializes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default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companion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data.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3)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addCompanion()</a:t>
            </a:r>
            <a:endParaRPr sz="1600">
              <a:latin typeface="Arial"/>
              <a:cs typeface="Arial"/>
            </a:endParaRPr>
          </a:p>
          <a:p>
            <a:pPr marL="355600" marR="113664" indent="-342900">
              <a:lnSpc>
                <a:spcPts val="1670"/>
              </a:lnSpc>
              <a:spcBef>
                <a:spcPts val="1815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5600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Collects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user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input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values.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Validates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that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all</a:t>
            </a:r>
            <a:r>
              <a:rPr sz="16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fields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are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filled.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Stores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companion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data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in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localStorage.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Calls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loadCompanions()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refresh</a:t>
            </a:r>
            <a:r>
              <a:rPr sz="16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list.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Clears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input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fields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after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submission.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4)</a:t>
            </a:r>
            <a:r>
              <a:rPr sz="1600" spc="4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loadCompanions()</a:t>
            </a:r>
            <a:endParaRPr sz="1600">
              <a:latin typeface="Arial"/>
              <a:cs typeface="Arial"/>
            </a:endParaRPr>
          </a:p>
          <a:p>
            <a:pPr marL="354965" indent="-342265">
              <a:lnSpc>
                <a:spcPts val="1795"/>
              </a:lnSpc>
              <a:spcBef>
                <a:spcPts val="1550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4965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Retrieves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list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of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companions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from localStorage.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Creates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HTML</a:t>
            </a:r>
            <a:r>
              <a:rPr sz="1600" spc="-8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elements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dynamically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display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each</a:t>
            </a:r>
            <a:endParaRPr sz="1600">
              <a:latin typeface="Arial MT"/>
              <a:cs typeface="Arial MT"/>
            </a:endParaRPr>
          </a:p>
          <a:p>
            <a:pPr marL="355600">
              <a:lnSpc>
                <a:spcPts val="1795"/>
              </a:lnSpc>
            </a:pP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companion.</a:t>
            </a:r>
            <a:endParaRPr sz="16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550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4965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Adds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Combine</a:t>
            </a:r>
            <a:r>
              <a:rPr sz="16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(combineCompanion())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Delete</a:t>
            </a:r>
            <a:r>
              <a:rPr sz="1600" b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(deleteCompanion())</a:t>
            </a:r>
            <a:r>
              <a:rPr sz="1600" spc="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button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for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each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companion.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5)</a:t>
            </a:r>
            <a:r>
              <a:rPr sz="1600" spc="4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deleteCompanion(index)</a:t>
            </a:r>
            <a:endParaRPr sz="16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560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4965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Prompts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user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confirm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deletion.</a:t>
            </a:r>
            <a:endParaRPr sz="1600">
              <a:latin typeface="Arial MT"/>
              <a:cs typeface="Arial MT"/>
            </a:endParaRPr>
          </a:p>
          <a:p>
            <a:pPr marL="355600" marR="354965" indent="-342900">
              <a:lnSpc>
                <a:spcPts val="1670"/>
              </a:lnSpc>
              <a:spcBef>
                <a:spcPts val="1814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5600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Removes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selected</a:t>
            </a:r>
            <a:r>
              <a:rPr sz="1600" spc="-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companion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from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companions</a:t>
            </a:r>
            <a:r>
              <a:rPr sz="16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list.</a:t>
            </a:r>
            <a:r>
              <a:rPr sz="16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Updates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localStorage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6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refreshes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the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display.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0327" y="439673"/>
            <a:ext cx="9012555" cy="503110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  <a:tabLst>
                <a:tab pos="342900" algn="l"/>
              </a:tabLst>
            </a:pPr>
            <a:r>
              <a:rPr sz="1800" spc="-25" dirty="0">
                <a:latin typeface="Arial MT"/>
                <a:cs typeface="Arial MT"/>
              </a:rPr>
              <a:t>6)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b="1" spc="-10" dirty="0">
                <a:latin typeface="Arial"/>
                <a:cs typeface="Arial"/>
              </a:rPr>
              <a:t>filterCompanions()</a:t>
            </a:r>
            <a:endParaRPr sz="1800">
              <a:latin typeface="Arial"/>
              <a:cs typeface="Arial"/>
            </a:endParaRPr>
          </a:p>
          <a:p>
            <a:pPr marL="354965" marR="5080" indent="-342900">
              <a:lnSpc>
                <a:spcPct val="106700"/>
              </a:lnSpc>
              <a:spcBef>
                <a:spcPts val="815"/>
              </a:spcBef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Retrieves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filter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input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value.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Filters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list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companions based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destination. </a:t>
            </a:r>
            <a:r>
              <a:rPr sz="1800" dirty="0">
                <a:latin typeface="Arial MT"/>
                <a:cs typeface="Arial MT"/>
              </a:rPr>
              <a:t>Updates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displayed list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dynamically.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800" dirty="0">
                <a:latin typeface="Arial MT"/>
                <a:cs typeface="Arial MT"/>
              </a:rPr>
              <a:t>7)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combineCompanion(name,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destination,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date)</a:t>
            </a:r>
            <a:endParaRPr sz="1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950"/>
              </a:spcBef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Displays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alert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confirming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matched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 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companion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600" spc="-10" dirty="0">
                <a:latin typeface="Calibri"/>
                <a:cs typeface="Calibri"/>
              </a:rPr>
              <a:t>trip.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"/>
              </a:spcBef>
              <a:buFont typeface="Symbol"/>
              <a:buChar char=""/>
            </a:pPr>
            <a:endParaRPr sz="1800">
              <a:latin typeface="Calibri"/>
              <a:cs typeface="Calibri"/>
            </a:endParaRPr>
          </a:p>
          <a:p>
            <a:pPr marL="65405">
              <a:lnSpc>
                <a:spcPct val="100000"/>
              </a:lnSpc>
              <a:spcBef>
                <a:spcPts val="5"/>
              </a:spcBef>
            </a:pPr>
            <a:r>
              <a:rPr sz="2400" u="sng" spc="-185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Verdana"/>
                <a:cs typeface="Verdana"/>
              </a:rPr>
              <a:t>HTML</a:t>
            </a:r>
            <a:r>
              <a:rPr sz="2400" u="sng" spc="-160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Verdana"/>
                <a:cs typeface="Verdana"/>
              </a:rPr>
              <a:t> </a:t>
            </a:r>
            <a:r>
              <a:rPr sz="2400" u="sng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Verdana"/>
                <a:cs typeface="Verdana"/>
              </a:rPr>
              <a:t>AND</a:t>
            </a:r>
            <a:r>
              <a:rPr sz="2400" u="sng" spc="-150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Verdana"/>
                <a:cs typeface="Verdana"/>
              </a:rPr>
              <a:t> </a:t>
            </a:r>
            <a:r>
              <a:rPr sz="2400" u="sng" spc="-25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Verdana"/>
                <a:cs typeface="Verdana"/>
              </a:rPr>
              <a:t>CSS</a:t>
            </a:r>
            <a:endParaRPr sz="2400">
              <a:latin typeface="Verdana"/>
              <a:cs typeface="Verdana"/>
            </a:endParaRPr>
          </a:p>
          <a:p>
            <a:pPr marL="144145" lvl="1" indent="-88900">
              <a:lnSpc>
                <a:spcPct val="100000"/>
              </a:lnSpc>
              <a:spcBef>
                <a:spcPts val="2000"/>
              </a:spcBef>
              <a:buSzPct val="94444"/>
              <a:buFont typeface="Arial MT"/>
              <a:buChar char="•"/>
              <a:tabLst>
                <a:tab pos="144145" algn="l"/>
              </a:tabLst>
            </a:pPr>
            <a:r>
              <a:rPr sz="1800" b="1" dirty="0">
                <a:latin typeface="Arial"/>
                <a:cs typeface="Arial"/>
              </a:rPr>
              <a:t>Global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Reset: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Removes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default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spacing.</a:t>
            </a:r>
            <a:endParaRPr sz="1800">
              <a:latin typeface="Arial MT"/>
              <a:cs typeface="Arial MT"/>
            </a:endParaRPr>
          </a:p>
          <a:p>
            <a:pPr marL="144145" lvl="1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144145" algn="l"/>
              </a:tabLst>
            </a:pPr>
            <a:r>
              <a:rPr sz="1800" b="1" dirty="0">
                <a:latin typeface="Arial"/>
                <a:cs typeface="Arial"/>
              </a:rPr>
              <a:t>Dark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Theme: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Black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background,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white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text.</a:t>
            </a:r>
            <a:endParaRPr sz="1800">
              <a:latin typeface="Arial MT"/>
              <a:cs typeface="Arial MT"/>
            </a:endParaRPr>
          </a:p>
          <a:p>
            <a:pPr marL="144145" lvl="1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144145" algn="l"/>
              </a:tabLst>
            </a:pPr>
            <a:r>
              <a:rPr sz="1800" b="1" dirty="0">
                <a:latin typeface="Arial"/>
                <a:cs typeface="Arial"/>
              </a:rPr>
              <a:t>Fixed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Header: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Stays on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top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flexbox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layout.</a:t>
            </a:r>
            <a:endParaRPr sz="1800">
              <a:latin typeface="Arial MT"/>
              <a:cs typeface="Arial MT"/>
            </a:endParaRPr>
          </a:p>
          <a:p>
            <a:pPr marL="144145" lvl="1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144145" algn="l"/>
              </a:tabLst>
            </a:pPr>
            <a:r>
              <a:rPr sz="1800" b="1" dirty="0">
                <a:latin typeface="Arial"/>
                <a:cs typeface="Arial"/>
              </a:rPr>
              <a:t>Interactive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Buttons: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Hover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effects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&amp;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smooth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transitions.</a:t>
            </a:r>
            <a:endParaRPr sz="1800">
              <a:latin typeface="Arial MT"/>
              <a:cs typeface="Arial MT"/>
            </a:endParaRPr>
          </a:p>
          <a:p>
            <a:pPr marL="144145" lvl="1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144145" algn="l"/>
              </a:tabLst>
            </a:pPr>
            <a:r>
              <a:rPr sz="1800" b="1" dirty="0">
                <a:latin typeface="Arial"/>
                <a:cs typeface="Arial"/>
              </a:rPr>
              <a:t>Companion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Cards: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Styled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shadow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&amp;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neon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glow.</a:t>
            </a:r>
            <a:endParaRPr sz="1800">
              <a:latin typeface="Arial MT"/>
              <a:cs typeface="Arial MT"/>
            </a:endParaRPr>
          </a:p>
          <a:p>
            <a:pPr marL="144145" lvl="1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144145" algn="l"/>
              </a:tabLst>
            </a:pPr>
            <a:r>
              <a:rPr sz="1800" b="1" dirty="0">
                <a:latin typeface="Arial"/>
                <a:cs typeface="Arial"/>
              </a:rPr>
              <a:t>Filter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Input: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Highlights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10" dirty="0">
                <a:latin typeface="Arial MT"/>
                <a:cs typeface="Arial MT"/>
              </a:rPr>
              <a:t> focused.</a:t>
            </a:r>
            <a:endParaRPr sz="1800">
              <a:latin typeface="Arial MT"/>
              <a:cs typeface="Arial MT"/>
            </a:endParaRPr>
          </a:p>
          <a:p>
            <a:pPr marL="144145" lvl="1" indent="-88900">
              <a:lnSpc>
                <a:spcPct val="100000"/>
              </a:lnSpc>
              <a:spcBef>
                <a:spcPts val="5"/>
              </a:spcBef>
              <a:buSzPct val="94444"/>
              <a:buFont typeface="Arial MT"/>
              <a:buChar char="•"/>
              <a:tabLst>
                <a:tab pos="144145" algn="l"/>
              </a:tabLst>
            </a:pPr>
            <a:r>
              <a:rPr sz="1800" b="1" dirty="0">
                <a:latin typeface="Arial"/>
                <a:cs typeface="Arial"/>
              </a:rPr>
              <a:t>Action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Buttons: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Combine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&amp;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Delete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hover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effects.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786" rIns="0" bIns="0" rtlCol="0">
            <a:spAutoFit/>
          </a:bodyPr>
          <a:lstStyle/>
          <a:p>
            <a:pPr marL="227965">
              <a:lnSpc>
                <a:spcPct val="100000"/>
              </a:lnSpc>
              <a:spcBef>
                <a:spcPts val="100"/>
              </a:spcBef>
            </a:pPr>
            <a:r>
              <a:rPr sz="2400" u="sng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WHERE</a:t>
            </a:r>
            <a:r>
              <a:rPr sz="2400" u="sng" spc="-30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2</a:t>
            </a:r>
            <a:r>
              <a:rPr sz="2400" u="sng" spc="-35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GO</a:t>
            </a:r>
            <a:r>
              <a:rPr sz="2400" u="sng" spc="-60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spc="-20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PAGE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5710" y="3299193"/>
            <a:ext cx="4972685" cy="334772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54456" y="795781"/>
            <a:ext cx="8789670" cy="5949315"/>
            <a:chOff x="354456" y="795781"/>
            <a:chExt cx="8789670" cy="594931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4456" y="2966270"/>
              <a:ext cx="6539483" cy="37782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7129" y="795781"/>
              <a:ext cx="7476871" cy="205092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62912" y="1773935"/>
              <a:ext cx="691883" cy="138531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01139" y="1864740"/>
              <a:ext cx="546735" cy="1235710"/>
            </a:xfrm>
            <a:custGeom>
              <a:avLst/>
              <a:gdLst/>
              <a:ahLst/>
              <a:cxnLst/>
              <a:rect l="l" t="t" r="r" b="b"/>
              <a:pathLst>
                <a:path w="546735" h="1235710">
                  <a:moveTo>
                    <a:pt x="501266" y="65579"/>
                  </a:moveTo>
                  <a:lnTo>
                    <a:pt x="2412" y="1218184"/>
                  </a:lnTo>
                  <a:lnTo>
                    <a:pt x="0" y="1223899"/>
                  </a:lnTo>
                  <a:lnTo>
                    <a:pt x="2540" y="1230376"/>
                  </a:lnTo>
                  <a:lnTo>
                    <a:pt x="8128" y="1232789"/>
                  </a:lnTo>
                  <a:lnTo>
                    <a:pt x="13843" y="1235329"/>
                  </a:lnTo>
                  <a:lnTo>
                    <a:pt x="20011" y="1232789"/>
                  </a:lnTo>
                  <a:lnTo>
                    <a:pt x="20265" y="1232789"/>
                  </a:lnTo>
                  <a:lnTo>
                    <a:pt x="521626" y="74389"/>
                  </a:lnTo>
                  <a:lnTo>
                    <a:pt x="501266" y="65579"/>
                  </a:lnTo>
                  <a:close/>
                </a:path>
                <a:path w="546735" h="1235710">
                  <a:moveTo>
                    <a:pt x="544179" y="45720"/>
                  </a:moveTo>
                  <a:lnTo>
                    <a:pt x="515238" y="45720"/>
                  </a:lnTo>
                  <a:lnTo>
                    <a:pt x="526542" y="50546"/>
                  </a:lnTo>
                  <a:lnTo>
                    <a:pt x="529082" y="57023"/>
                  </a:lnTo>
                  <a:lnTo>
                    <a:pt x="526669" y="62737"/>
                  </a:lnTo>
                  <a:lnTo>
                    <a:pt x="521626" y="74389"/>
                  </a:lnTo>
                  <a:lnTo>
                    <a:pt x="546354" y="85089"/>
                  </a:lnTo>
                  <a:lnTo>
                    <a:pt x="544179" y="45720"/>
                  </a:lnTo>
                  <a:close/>
                </a:path>
                <a:path w="546735" h="1235710">
                  <a:moveTo>
                    <a:pt x="515238" y="45720"/>
                  </a:moveTo>
                  <a:lnTo>
                    <a:pt x="508762" y="48260"/>
                  </a:lnTo>
                  <a:lnTo>
                    <a:pt x="501266" y="65579"/>
                  </a:lnTo>
                  <a:lnTo>
                    <a:pt x="521626" y="74389"/>
                  </a:lnTo>
                  <a:lnTo>
                    <a:pt x="526669" y="62737"/>
                  </a:lnTo>
                  <a:lnTo>
                    <a:pt x="529082" y="57023"/>
                  </a:lnTo>
                  <a:lnTo>
                    <a:pt x="526542" y="50546"/>
                  </a:lnTo>
                  <a:lnTo>
                    <a:pt x="515238" y="45720"/>
                  </a:lnTo>
                  <a:close/>
                </a:path>
                <a:path w="546735" h="1235710">
                  <a:moveTo>
                    <a:pt x="541655" y="0"/>
                  </a:moveTo>
                  <a:lnTo>
                    <a:pt x="476504" y="54863"/>
                  </a:lnTo>
                  <a:lnTo>
                    <a:pt x="501266" y="65579"/>
                  </a:lnTo>
                  <a:lnTo>
                    <a:pt x="508762" y="48260"/>
                  </a:lnTo>
                  <a:lnTo>
                    <a:pt x="515238" y="45720"/>
                  </a:lnTo>
                  <a:lnTo>
                    <a:pt x="544179" y="45720"/>
                  </a:lnTo>
                  <a:lnTo>
                    <a:pt x="541655" y="0"/>
                  </a:lnTo>
                  <a:close/>
                </a:path>
              </a:pathLst>
            </a:custGeom>
            <a:solidFill>
              <a:srgbClr val="A42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152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spc="-254" dirty="0"/>
              <a:t>HTML</a:t>
            </a:r>
            <a:r>
              <a:rPr spc="-225" dirty="0"/>
              <a:t> </a:t>
            </a:r>
            <a:r>
              <a:rPr dirty="0"/>
              <a:t>AND</a:t>
            </a:r>
            <a:r>
              <a:rPr spc="-225" dirty="0"/>
              <a:t> </a:t>
            </a:r>
            <a:r>
              <a:rPr spc="-365" dirty="0"/>
              <a:t>CSS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58544" y="952246"/>
            <a:ext cx="8754110" cy="5558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2405" indent="-182245">
              <a:lnSpc>
                <a:spcPct val="100000"/>
              </a:lnSpc>
              <a:spcBef>
                <a:spcPts val="95"/>
              </a:spcBef>
              <a:buSzPct val="93750"/>
              <a:buAutoNum type="arabicParenR"/>
              <a:tabLst>
                <a:tab pos="192405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Highlighted</a:t>
            </a:r>
            <a:r>
              <a:rPr sz="16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Logo</a:t>
            </a:r>
            <a:r>
              <a:rPr sz="1600" b="1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for</a:t>
            </a:r>
            <a:r>
              <a:rPr sz="16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Brand</a:t>
            </a:r>
            <a:r>
              <a:rPr sz="1600" b="1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Identity</a:t>
            </a:r>
            <a:endParaRPr sz="1600">
              <a:latin typeface="Arial"/>
              <a:cs typeface="Arial"/>
            </a:endParaRPr>
          </a:p>
          <a:p>
            <a:pPr marL="354965" lvl="1" indent="-342265">
              <a:lnSpc>
                <a:spcPct val="100000"/>
              </a:lnSpc>
              <a:spcBef>
                <a:spcPts val="1545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4965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Uses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T&lt;span</a:t>
            </a:r>
            <a:r>
              <a:rPr sz="16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class="highlight"&gt;OUR&lt;/span&gt;Ease</a:t>
            </a:r>
            <a:r>
              <a:rPr sz="1600" b="1" spc="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emphasize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"OUR"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in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red.</a:t>
            </a:r>
            <a:endParaRPr sz="1600">
              <a:latin typeface="Arial MT"/>
              <a:cs typeface="Arial MT"/>
            </a:endParaRPr>
          </a:p>
          <a:p>
            <a:pPr marL="354965" lvl="1" indent="-342265">
              <a:lnSpc>
                <a:spcPct val="100000"/>
              </a:lnSpc>
              <a:spcBef>
                <a:spcPts val="1550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4965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Modern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clean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typography</a:t>
            </a:r>
            <a:r>
              <a:rPr sz="16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(</a:t>
            </a:r>
            <a:r>
              <a:rPr sz="1600" b="1" spc="-20" dirty="0">
                <a:solidFill>
                  <a:srgbClr val="404040"/>
                </a:solidFill>
                <a:latin typeface="Arial"/>
                <a:cs typeface="Arial"/>
              </a:rPr>
              <a:t>font-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size:</a:t>
            </a:r>
            <a:r>
              <a:rPr sz="1600" b="1" spc="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24px;</a:t>
            </a:r>
            <a:r>
              <a:rPr sz="16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letter-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spacing:</a:t>
            </a:r>
            <a:r>
              <a:rPr sz="1600" b="1" spc="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1px;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).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2)</a:t>
            </a:r>
            <a:r>
              <a:rPr sz="1600" spc="-7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Interactive</a:t>
            </a:r>
            <a:r>
              <a:rPr sz="16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Navigation</a:t>
            </a:r>
            <a:r>
              <a:rPr sz="1600" b="1" spc="-25" dirty="0">
                <a:solidFill>
                  <a:srgbClr val="404040"/>
                </a:solidFill>
                <a:latin typeface="Arial"/>
                <a:cs typeface="Arial"/>
              </a:rPr>
              <a:t> Bar</a:t>
            </a:r>
            <a:endParaRPr sz="16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550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4965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Profile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button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with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hover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animation</a:t>
            </a:r>
            <a:r>
              <a:rPr sz="16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(</a:t>
            </a:r>
            <a:r>
              <a:rPr sz="1600" b="1" spc="-20" dirty="0">
                <a:solidFill>
                  <a:srgbClr val="404040"/>
                </a:solidFill>
                <a:latin typeface="Arial"/>
                <a:cs typeface="Arial"/>
              </a:rPr>
              <a:t>.btn-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login:hover</a:t>
            </a:r>
            <a:r>
              <a:rPr sz="1600" b="1" spc="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{</a:t>
            </a:r>
            <a:r>
              <a:rPr sz="16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background:</a:t>
            </a:r>
            <a:r>
              <a:rPr sz="1600" b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white;</a:t>
            </a:r>
            <a:r>
              <a:rPr sz="1600" b="1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color:</a:t>
            </a:r>
            <a:r>
              <a:rPr sz="16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black;</a:t>
            </a:r>
            <a:r>
              <a:rPr sz="16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404040"/>
                </a:solidFill>
                <a:latin typeface="Arial"/>
                <a:cs typeface="Arial"/>
              </a:rPr>
              <a:t>}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).</a:t>
            </a:r>
            <a:endParaRPr sz="16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550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4965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Dropdown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menu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changes</a:t>
            </a:r>
            <a:r>
              <a:rPr sz="1600" spc="-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appearance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when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hovered</a:t>
            </a:r>
            <a:r>
              <a:rPr sz="16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(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background:</a:t>
            </a:r>
            <a:r>
              <a:rPr sz="1600" b="1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white;</a:t>
            </a:r>
            <a:r>
              <a:rPr sz="1600" b="1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color:</a:t>
            </a:r>
            <a:r>
              <a:rPr sz="1600" b="1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black;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).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3)</a:t>
            </a:r>
            <a:r>
              <a:rPr sz="1600" spc="38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Destination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Cards</a:t>
            </a:r>
            <a:r>
              <a:rPr sz="16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with</a:t>
            </a:r>
            <a:r>
              <a:rPr sz="16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Hover</a:t>
            </a:r>
            <a:r>
              <a:rPr sz="1600" b="1" spc="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Effect</a:t>
            </a:r>
            <a:endParaRPr sz="16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550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4965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Smooth</a:t>
            </a:r>
            <a:r>
              <a:rPr sz="16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zoom</a:t>
            </a:r>
            <a:r>
              <a:rPr sz="1600" spc="-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effect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(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transform:</a:t>
            </a:r>
            <a:r>
              <a:rPr sz="1600" b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scale(1.05);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).</a:t>
            </a:r>
            <a:endParaRPr sz="16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560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4965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Consistent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card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styling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(</a:t>
            </a:r>
            <a:r>
              <a:rPr sz="1600" b="1" spc="-20" dirty="0">
                <a:solidFill>
                  <a:srgbClr val="404040"/>
                </a:solidFill>
                <a:latin typeface="Arial"/>
                <a:cs typeface="Arial"/>
              </a:rPr>
              <a:t>border-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radius: 10px;</a:t>
            </a:r>
            <a:r>
              <a:rPr sz="1600" b="1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background:</a:t>
            </a:r>
            <a:r>
              <a:rPr sz="16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black;</a:t>
            </a:r>
            <a:r>
              <a:rPr sz="16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color:</a:t>
            </a:r>
            <a:r>
              <a:rPr sz="16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white;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).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4)</a:t>
            </a:r>
            <a:r>
              <a:rPr sz="1600" spc="39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404040"/>
                </a:solidFill>
                <a:latin typeface="Arial"/>
                <a:cs typeface="Arial"/>
              </a:rPr>
              <a:t>Eye-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Catching</a:t>
            </a:r>
            <a:r>
              <a:rPr sz="1600" b="1" spc="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Explore</a:t>
            </a:r>
            <a:r>
              <a:rPr sz="16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Button</a:t>
            </a:r>
            <a:endParaRPr sz="16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550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4965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Uses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bright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orange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(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background: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 #ff9800;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).</a:t>
            </a:r>
            <a:endParaRPr sz="16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550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4965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Hover</a:t>
            </a:r>
            <a:r>
              <a:rPr sz="1600" spc="-7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effect</a:t>
            </a:r>
            <a:r>
              <a:rPr sz="16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(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background:</a:t>
            </a:r>
            <a:r>
              <a:rPr sz="1600" b="1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#e68900;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).</a:t>
            </a:r>
            <a:endParaRPr sz="16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545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4965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Clear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call-to-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action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with</a:t>
            </a:r>
            <a:r>
              <a:rPr sz="16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bold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text.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779" y="2008632"/>
            <a:ext cx="585978" cy="48082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07794" y="493267"/>
            <a:ext cx="7701280" cy="186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2900" algn="l"/>
              </a:tabLst>
            </a:pP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5)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Engaging</a:t>
            </a:r>
            <a:r>
              <a:rPr sz="18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Holiday</a:t>
            </a:r>
            <a:r>
              <a:rPr sz="18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Ideas</a:t>
            </a:r>
            <a:r>
              <a:rPr sz="18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Section</a:t>
            </a:r>
            <a:endParaRPr sz="1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955"/>
              </a:spcBef>
              <a:buClr>
                <a:srgbClr val="A42F0F"/>
              </a:buClr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Dark</a:t>
            </a:r>
            <a:r>
              <a:rPr sz="18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background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with</a:t>
            </a:r>
            <a:r>
              <a:rPr sz="1800" spc="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soft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contrast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(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background:</a:t>
            </a:r>
            <a:r>
              <a:rPr sz="18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black;</a:t>
            </a:r>
            <a:r>
              <a:rPr sz="18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color:</a:t>
            </a:r>
            <a:r>
              <a:rPr sz="1800" b="1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white;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).</a:t>
            </a: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955"/>
              </a:spcBef>
              <a:buClr>
                <a:srgbClr val="A42F0F"/>
              </a:buClr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Well-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structured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text</a:t>
            </a:r>
            <a:r>
              <a:rPr sz="18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alignment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(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text-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align:</a:t>
            </a:r>
            <a:r>
              <a:rPr sz="18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justify;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).</a:t>
            </a: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945"/>
              </a:spcBef>
              <a:buClr>
                <a:srgbClr val="A42F0F"/>
              </a:buClr>
              <a:buSzPct val="55555"/>
              <a:buFont typeface="Symbol"/>
              <a:buChar char=""/>
              <a:tabLst>
                <a:tab pos="354965" algn="l"/>
                <a:tab pos="135255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Icons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Arial MT"/>
                <a:cs typeface="Arial MT"/>
              </a:rPr>
              <a:t>(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	)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for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better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readability</a:t>
            </a:r>
            <a:r>
              <a:rPr sz="1800" spc="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in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&lt;ul&gt;.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9198" y="332943"/>
            <a:ext cx="44456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229" dirty="0">
                <a:uFill>
                  <a:solidFill>
                    <a:srgbClr val="252525"/>
                  </a:solidFill>
                </a:uFill>
              </a:rPr>
              <a:t>DESTINATION</a:t>
            </a:r>
            <a:r>
              <a:rPr sz="2400" u="sng" spc="-40" dirty="0">
                <a:uFill>
                  <a:solidFill>
                    <a:srgbClr val="252525"/>
                  </a:solidFill>
                </a:uFill>
              </a:rPr>
              <a:t> </a:t>
            </a:r>
            <a:r>
              <a:rPr sz="2400" u="sng" spc="-30" dirty="0">
                <a:uFill>
                  <a:solidFill>
                    <a:srgbClr val="252525"/>
                  </a:solidFill>
                </a:uFill>
              </a:rPr>
              <a:t>PAGE(VARKALA)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1685289" y="898652"/>
            <a:ext cx="8404225" cy="5893435"/>
            <a:chOff x="1685289" y="898652"/>
            <a:chExt cx="8404225" cy="58934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5289" y="898652"/>
              <a:ext cx="8403971" cy="34975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13432" y="5116588"/>
              <a:ext cx="2039366" cy="147942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02379" y="1613916"/>
              <a:ext cx="5160264" cy="35737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40225" y="1705483"/>
              <a:ext cx="5011420" cy="3423920"/>
            </a:xfrm>
            <a:custGeom>
              <a:avLst/>
              <a:gdLst/>
              <a:ahLst/>
              <a:cxnLst/>
              <a:rect l="l" t="t" r="r" b="b"/>
              <a:pathLst>
                <a:path w="5011420" h="3423920">
                  <a:moveTo>
                    <a:pt x="4941777" y="33808"/>
                  </a:moveTo>
                  <a:lnTo>
                    <a:pt x="6350" y="3401822"/>
                  </a:lnTo>
                  <a:lnTo>
                    <a:pt x="1270" y="3405378"/>
                  </a:lnTo>
                  <a:lnTo>
                    <a:pt x="0" y="3412235"/>
                  </a:lnTo>
                  <a:lnTo>
                    <a:pt x="6858" y="3422396"/>
                  </a:lnTo>
                  <a:lnTo>
                    <a:pt x="13715" y="3423666"/>
                  </a:lnTo>
                  <a:lnTo>
                    <a:pt x="4954292" y="52136"/>
                  </a:lnTo>
                  <a:lnTo>
                    <a:pt x="4941777" y="33808"/>
                  </a:lnTo>
                  <a:close/>
                </a:path>
                <a:path w="5011420" h="3423920">
                  <a:moveTo>
                    <a:pt x="4998053" y="23113"/>
                  </a:moveTo>
                  <a:lnTo>
                    <a:pt x="4957318" y="23113"/>
                  </a:lnTo>
                  <a:lnTo>
                    <a:pt x="4964303" y="24511"/>
                  </a:lnTo>
                  <a:lnTo>
                    <a:pt x="4967732" y="29590"/>
                  </a:lnTo>
                  <a:lnTo>
                    <a:pt x="4971160" y="34543"/>
                  </a:lnTo>
                  <a:lnTo>
                    <a:pt x="4969891" y="41528"/>
                  </a:lnTo>
                  <a:lnTo>
                    <a:pt x="4954292" y="52136"/>
                  </a:lnTo>
                  <a:lnTo>
                    <a:pt x="4969509" y="74421"/>
                  </a:lnTo>
                  <a:lnTo>
                    <a:pt x="4998053" y="23113"/>
                  </a:lnTo>
                  <a:close/>
                </a:path>
                <a:path w="5011420" h="3423920">
                  <a:moveTo>
                    <a:pt x="4957318" y="23113"/>
                  </a:moveTo>
                  <a:lnTo>
                    <a:pt x="4952238" y="26669"/>
                  </a:lnTo>
                  <a:lnTo>
                    <a:pt x="4941777" y="33808"/>
                  </a:lnTo>
                  <a:lnTo>
                    <a:pt x="4954292" y="52136"/>
                  </a:lnTo>
                  <a:lnTo>
                    <a:pt x="4969891" y="41528"/>
                  </a:lnTo>
                  <a:lnTo>
                    <a:pt x="4971160" y="34543"/>
                  </a:lnTo>
                  <a:lnTo>
                    <a:pt x="4967732" y="29590"/>
                  </a:lnTo>
                  <a:lnTo>
                    <a:pt x="4964303" y="24511"/>
                  </a:lnTo>
                  <a:lnTo>
                    <a:pt x="4957318" y="23113"/>
                  </a:lnTo>
                  <a:close/>
                </a:path>
                <a:path w="5011420" h="3423920">
                  <a:moveTo>
                    <a:pt x="5010912" y="0"/>
                  </a:moveTo>
                  <a:lnTo>
                    <a:pt x="4926583" y="11556"/>
                  </a:lnTo>
                  <a:lnTo>
                    <a:pt x="4941777" y="33808"/>
                  </a:lnTo>
                  <a:lnTo>
                    <a:pt x="4952238" y="26669"/>
                  </a:lnTo>
                  <a:lnTo>
                    <a:pt x="4957318" y="23113"/>
                  </a:lnTo>
                  <a:lnTo>
                    <a:pt x="4998053" y="23113"/>
                  </a:lnTo>
                  <a:lnTo>
                    <a:pt x="5010912" y="0"/>
                  </a:lnTo>
                  <a:close/>
                </a:path>
              </a:pathLst>
            </a:custGeom>
            <a:solidFill>
              <a:srgbClr val="A42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72149" y="4514518"/>
              <a:ext cx="3698113" cy="227710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15527" y="1671828"/>
              <a:ext cx="943368" cy="299770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453500" y="1761998"/>
              <a:ext cx="810260" cy="2847975"/>
            </a:xfrm>
            <a:custGeom>
              <a:avLst/>
              <a:gdLst/>
              <a:ahLst/>
              <a:cxnLst/>
              <a:rect l="l" t="t" r="r" b="b"/>
              <a:pathLst>
                <a:path w="810259" h="2847975">
                  <a:moveTo>
                    <a:pt x="762317" y="70539"/>
                  </a:moveTo>
                  <a:lnTo>
                    <a:pt x="0" y="2838704"/>
                  </a:lnTo>
                  <a:lnTo>
                    <a:pt x="3555" y="2844800"/>
                  </a:lnTo>
                  <a:lnTo>
                    <a:pt x="9398" y="2846451"/>
                  </a:lnTo>
                  <a:lnTo>
                    <a:pt x="15367" y="2847975"/>
                  </a:lnTo>
                  <a:lnTo>
                    <a:pt x="21463" y="2844546"/>
                  </a:lnTo>
                  <a:lnTo>
                    <a:pt x="783760" y="76428"/>
                  </a:lnTo>
                  <a:lnTo>
                    <a:pt x="762317" y="70539"/>
                  </a:lnTo>
                  <a:close/>
                </a:path>
                <a:path w="810259" h="2847975">
                  <a:moveTo>
                    <a:pt x="802902" y="48894"/>
                  </a:moveTo>
                  <a:lnTo>
                    <a:pt x="773429" y="48894"/>
                  </a:lnTo>
                  <a:lnTo>
                    <a:pt x="785700" y="52324"/>
                  </a:lnTo>
                  <a:lnTo>
                    <a:pt x="785312" y="52324"/>
                  </a:lnTo>
                  <a:lnTo>
                    <a:pt x="788670" y="58292"/>
                  </a:lnTo>
                  <a:lnTo>
                    <a:pt x="787146" y="64135"/>
                  </a:lnTo>
                  <a:lnTo>
                    <a:pt x="783760" y="76428"/>
                  </a:lnTo>
                  <a:lnTo>
                    <a:pt x="809751" y="83565"/>
                  </a:lnTo>
                  <a:lnTo>
                    <a:pt x="802902" y="48894"/>
                  </a:lnTo>
                  <a:close/>
                </a:path>
                <a:path w="810259" h="2847975">
                  <a:moveTo>
                    <a:pt x="773429" y="48894"/>
                  </a:moveTo>
                  <a:lnTo>
                    <a:pt x="767333" y="52324"/>
                  </a:lnTo>
                  <a:lnTo>
                    <a:pt x="762317" y="70539"/>
                  </a:lnTo>
                  <a:lnTo>
                    <a:pt x="783760" y="76428"/>
                  </a:lnTo>
                  <a:lnTo>
                    <a:pt x="787146" y="64135"/>
                  </a:lnTo>
                  <a:lnTo>
                    <a:pt x="788670" y="58292"/>
                  </a:lnTo>
                  <a:lnTo>
                    <a:pt x="785312" y="52324"/>
                  </a:lnTo>
                  <a:lnTo>
                    <a:pt x="785700" y="52324"/>
                  </a:lnTo>
                  <a:lnTo>
                    <a:pt x="773429" y="48894"/>
                  </a:lnTo>
                  <a:close/>
                </a:path>
                <a:path w="810259" h="2847975">
                  <a:moveTo>
                    <a:pt x="793242" y="0"/>
                  </a:moveTo>
                  <a:lnTo>
                    <a:pt x="736219" y="63373"/>
                  </a:lnTo>
                  <a:lnTo>
                    <a:pt x="762317" y="70539"/>
                  </a:lnTo>
                  <a:lnTo>
                    <a:pt x="767333" y="52324"/>
                  </a:lnTo>
                  <a:lnTo>
                    <a:pt x="773429" y="48894"/>
                  </a:lnTo>
                  <a:lnTo>
                    <a:pt x="802902" y="48894"/>
                  </a:lnTo>
                  <a:lnTo>
                    <a:pt x="793242" y="0"/>
                  </a:lnTo>
                  <a:close/>
                </a:path>
              </a:pathLst>
            </a:custGeom>
            <a:solidFill>
              <a:srgbClr val="A42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874500" cy="6791325"/>
            <a:chOff x="0" y="0"/>
            <a:chExt cx="11874500" cy="67913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969247" cy="36423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83528" y="3297954"/>
              <a:ext cx="5990590" cy="34932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8000" y="250012"/>
            <a:ext cx="21824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175" dirty="0">
                <a:uFill>
                  <a:solidFill>
                    <a:srgbClr val="252525"/>
                  </a:solidFill>
                </a:uFill>
              </a:rPr>
              <a:t>HTML</a:t>
            </a:r>
            <a:r>
              <a:rPr sz="2400" u="sng" spc="-170" dirty="0">
                <a:uFill>
                  <a:solidFill>
                    <a:srgbClr val="252525"/>
                  </a:solidFill>
                </a:uFill>
              </a:rPr>
              <a:t> </a:t>
            </a:r>
            <a:r>
              <a:rPr sz="2400" u="sng" dirty="0">
                <a:uFill>
                  <a:solidFill>
                    <a:srgbClr val="252525"/>
                  </a:solidFill>
                </a:uFill>
              </a:rPr>
              <a:t>AND</a:t>
            </a:r>
            <a:r>
              <a:rPr sz="2400" u="sng" spc="-180" dirty="0">
                <a:uFill>
                  <a:solidFill>
                    <a:srgbClr val="252525"/>
                  </a:solidFill>
                </a:uFill>
              </a:rPr>
              <a:t> </a:t>
            </a:r>
            <a:r>
              <a:rPr sz="2400" u="sng" spc="-170" dirty="0">
                <a:uFill>
                  <a:solidFill>
                    <a:srgbClr val="252525"/>
                  </a:solidFill>
                </a:uFill>
              </a:rPr>
              <a:t>CSS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660398" y="674623"/>
            <a:ext cx="9632315" cy="5983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40029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Smooth</a:t>
            </a:r>
            <a:r>
              <a:rPr sz="16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User</a:t>
            </a:r>
            <a:r>
              <a:rPr sz="16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Experience</a:t>
            </a:r>
            <a:r>
              <a:rPr sz="1600" b="1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with</a:t>
            </a:r>
            <a:r>
              <a:rPr sz="1600" b="1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Transitions</a:t>
            </a:r>
            <a:endParaRPr sz="1600">
              <a:latin typeface="Arial"/>
              <a:cs typeface="Arial"/>
            </a:endParaRPr>
          </a:p>
          <a:p>
            <a:pPr marL="355600" marR="269240" lvl="1" indent="-342900">
              <a:lnSpc>
                <a:spcPts val="1670"/>
              </a:lnSpc>
              <a:spcBef>
                <a:spcPts val="1814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5600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Enhances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overall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feel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by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making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hover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effects,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color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changes,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size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adjustments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appear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fluid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rather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than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abrupt.</a:t>
            </a:r>
            <a:endParaRPr sz="16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1545"/>
              </a:spcBef>
              <a:buAutoNum type="arabicPeriod" startAt="2"/>
              <a:tabLst>
                <a:tab pos="240029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Stylish</a:t>
            </a:r>
            <a:r>
              <a:rPr sz="1600" b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Login</a:t>
            </a:r>
            <a:r>
              <a:rPr sz="16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Button</a:t>
            </a:r>
            <a:endParaRPr sz="1600">
              <a:latin typeface="Arial"/>
              <a:cs typeface="Arial"/>
            </a:endParaRPr>
          </a:p>
          <a:p>
            <a:pPr marL="354965" lvl="1" indent="-342265">
              <a:lnSpc>
                <a:spcPct val="100000"/>
              </a:lnSpc>
              <a:spcBef>
                <a:spcPts val="1545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4965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Bordered</a:t>
            </a:r>
            <a:r>
              <a:rPr sz="1600" b="1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Design:</a:t>
            </a:r>
            <a:r>
              <a:rPr sz="16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border: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2px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solid</a:t>
            </a:r>
            <a:r>
              <a:rPr sz="16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white;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makes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it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stand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out.</a:t>
            </a:r>
            <a:endParaRPr sz="1600">
              <a:latin typeface="Arial MT"/>
              <a:cs typeface="Arial MT"/>
            </a:endParaRPr>
          </a:p>
          <a:p>
            <a:pPr marL="354965" lvl="1" indent="-342265">
              <a:lnSpc>
                <a:spcPct val="100000"/>
              </a:lnSpc>
              <a:spcBef>
                <a:spcPts val="1550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4965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Hover</a:t>
            </a:r>
            <a:r>
              <a:rPr sz="16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Effect:</a:t>
            </a:r>
            <a:r>
              <a:rPr sz="1600" b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background: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white;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color: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black;</a:t>
            </a:r>
            <a:r>
              <a:rPr sz="16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inverts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colors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for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dynamic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interactive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effect.</a:t>
            </a:r>
            <a:endParaRPr sz="1600">
              <a:latin typeface="Arial MT"/>
              <a:cs typeface="Arial MT"/>
            </a:endParaRPr>
          </a:p>
          <a:p>
            <a:pPr marL="354965" lvl="1" indent="-342265">
              <a:lnSpc>
                <a:spcPct val="100000"/>
              </a:lnSpc>
              <a:spcBef>
                <a:spcPts val="1550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4965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Rounded</a:t>
            </a:r>
            <a:r>
              <a:rPr sz="16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Corners:</a:t>
            </a:r>
            <a:r>
              <a:rPr sz="16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border-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radius: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6px;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gives</a:t>
            </a:r>
            <a:r>
              <a:rPr sz="16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modern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touch.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3.</a:t>
            </a:r>
            <a:r>
              <a:rPr sz="16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Background</a:t>
            </a:r>
            <a:r>
              <a:rPr sz="16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Image</a:t>
            </a:r>
            <a:r>
              <a:rPr sz="16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with</a:t>
            </a:r>
            <a:r>
              <a:rPr sz="16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Overlay</a:t>
            </a:r>
            <a:endParaRPr sz="16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560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4965" algn="l"/>
              </a:tabLst>
            </a:pP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Full-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Width</a:t>
            </a:r>
            <a:r>
              <a:rPr sz="16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Background:</a:t>
            </a:r>
            <a:r>
              <a:rPr sz="16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Enhances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visual</a:t>
            </a:r>
            <a:r>
              <a:rPr sz="16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appeal.</a:t>
            </a:r>
            <a:endParaRPr sz="1600">
              <a:latin typeface="Arial MT"/>
              <a:cs typeface="Arial MT"/>
            </a:endParaRPr>
          </a:p>
          <a:p>
            <a:pPr marL="355600" marR="5080" indent="-342900">
              <a:lnSpc>
                <a:spcPts val="1670"/>
              </a:lnSpc>
              <a:spcBef>
                <a:spcPts val="1810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5600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Dark</a:t>
            </a:r>
            <a:r>
              <a:rPr sz="16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Semi-Transparent</a:t>
            </a:r>
            <a:r>
              <a:rPr sz="16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Overlay:</a:t>
            </a:r>
            <a:r>
              <a:rPr sz="1600" b="1" spc="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background: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rgba(0,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0,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0,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0.5);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ensures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readability</a:t>
            </a:r>
            <a:r>
              <a:rPr sz="1600" spc="-7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while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maintaining aesthetics.</a:t>
            </a:r>
            <a:endParaRPr sz="16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1535"/>
              </a:spcBef>
              <a:buAutoNum type="arabicPeriod" startAt="4"/>
              <a:tabLst>
                <a:tab pos="240029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Interactive</a:t>
            </a:r>
            <a:r>
              <a:rPr sz="16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Circular</a:t>
            </a:r>
            <a:r>
              <a:rPr sz="16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Buttons</a:t>
            </a:r>
            <a:r>
              <a:rPr sz="1600" b="1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(Weather</a:t>
            </a:r>
            <a:r>
              <a:rPr sz="16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&amp;</a:t>
            </a:r>
            <a:r>
              <a:rPr sz="1600" b="1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404040"/>
                </a:solidFill>
                <a:latin typeface="Arial"/>
                <a:cs typeface="Arial"/>
              </a:rPr>
              <a:t>Map)</a:t>
            </a:r>
            <a:endParaRPr sz="1600">
              <a:latin typeface="Arial"/>
              <a:cs typeface="Arial"/>
            </a:endParaRPr>
          </a:p>
          <a:p>
            <a:pPr marL="354965" lvl="1" indent="-342265">
              <a:lnSpc>
                <a:spcPct val="100000"/>
              </a:lnSpc>
              <a:spcBef>
                <a:spcPts val="1545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4965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Circular</a:t>
            </a:r>
            <a:r>
              <a:rPr sz="16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Shape:</a:t>
            </a:r>
            <a:r>
              <a:rPr sz="16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border-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radius:</a:t>
            </a:r>
            <a:r>
              <a:rPr sz="16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50%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makes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them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visually</a:t>
            </a:r>
            <a:r>
              <a:rPr sz="16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appealing.</a:t>
            </a:r>
            <a:endParaRPr sz="1600">
              <a:latin typeface="Arial MT"/>
              <a:cs typeface="Arial MT"/>
            </a:endParaRPr>
          </a:p>
          <a:p>
            <a:pPr marL="354965" lvl="1" indent="-342265">
              <a:lnSpc>
                <a:spcPct val="100000"/>
              </a:lnSpc>
              <a:spcBef>
                <a:spcPts val="1565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4965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Hover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Effect:</a:t>
            </a:r>
            <a:r>
              <a:rPr sz="1600" b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transform: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scale(1.1);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adds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engaging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animation.</a:t>
            </a:r>
            <a:endParaRPr sz="1600">
              <a:latin typeface="Arial MT"/>
              <a:cs typeface="Arial MT"/>
            </a:endParaRPr>
          </a:p>
          <a:p>
            <a:pPr marL="354965" lvl="1" indent="-342265">
              <a:lnSpc>
                <a:spcPct val="100000"/>
              </a:lnSpc>
              <a:spcBef>
                <a:spcPts val="1545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4965" algn="l"/>
              </a:tabLst>
            </a:pP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Box-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Shadow:</a:t>
            </a:r>
            <a:r>
              <a:rPr sz="16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box-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shadow: 2px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2px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10px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rgba(0,</a:t>
            </a:r>
            <a:r>
              <a:rPr sz="1600" spc="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0,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0,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0.3);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gives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3D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effect.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7260" y="228346"/>
            <a:ext cx="9610090" cy="6437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Clr>
                <a:srgbClr val="404040"/>
              </a:buClr>
              <a:buFont typeface="Arial"/>
              <a:buAutoNum type="arabicPeriod" startAt="5"/>
              <a:tabLst>
                <a:tab pos="240029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Content</a:t>
            </a:r>
            <a:r>
              <a:rPr sz="1600" b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Cards</a:t>
            </a:r>
            <a:r>
              <a:rPr sz="16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with</a:t>
            </a:r>
            <a:r>
              <a:rPr sz="1600" b="1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Premium</a:t>
            </a:r>
            <a:r>
              <a:rPr sz="1600" b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Design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404040"/>
              </a:buClr>
              <a:buFont typeface="Arial"/>
              <a:buAutoNum type="arabicPeriod" startAt="5"/>
            </a:pPr>
            <a:endParaRPr sz="1600">
              <a:latin typeface="Arial"/>
              <a:cs typeface="Arial"/>
            </a:endParaRPr>
          </a:p>
          <a:p>
            <a:pPr marL="355600" lvl="1" indent="-342900">
              <a:lnSpc>
                <a:spcPct val="100000"/>
              </a:lnSpc>
              <a:buClr>
                <a:srgbClr val="A42F0F"/>
              </a:buClr>
              <a:buSzPct val="62500"/>
              <a:buFont typeface="Symbol"/>
              <a:buChar char=""/>
              <a:tabLst>
                <a:tab pos="355600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Dark</a:t>
            </a:r>
            <a:r>
              <a:rPr sz="16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Gradient</a:t>
            </a:r>
            <a:r>
              <a:rPr sz="1600" b="1" spc="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Background: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background: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linear-gradient(145deg,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 #2c2c2c,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#3a3a3a);</a:t>
            </a:r>
            <a:r>
              <a:rPr sz="16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gives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endParaRPr sz="16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150"/>
              </a:spcBef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futuristic,</a:t>
            </a:r>
            <a:r>
              <a:rPr sz="1600" spc="-7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premium</a:t>
            </a:r>
            <a:r>
              <a:rPr sz="1600" spc="-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look.</a:t>
            </a:r>
            <a:endParaRPr sz="1600">
              <a:latin typeface="Arial MT"/>
              <a:cs typeface="Arial MT"/>
            </a:endParaRPr>
          </a:p>
          <a:p>
            <a:pPr marL="355600" marR="404495" lvl="1" indent="-343535">
              <a:lnSpc>
                <a:spcPct val="106900"/>
              </a:lnSpc>
              <a:spcBef>
                <a:spcPts val="1800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5600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3D</a:t>
            </a:r>
            <a:r>
              <a:rPr sz="16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Box-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Shadow</a:t>
            </a:r>
            <a:r>
              <a:rPr sz="16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Effect: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box-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shadow: 5px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5px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15px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rgba(0, 0,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0,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0.6); makes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it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stand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out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from</a:t>
            </a:r>
            <a:r>
              <a:rPr sz="1600" spc="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the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background.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0"/>
              </a:spcBef>
              <a:buClr>
                <a:srgbClr val="A42F0F"/>
              </a:buClr>
              <a:buFont typeface="Symbol"/>
              <a:buChar char=""/>
            </a:pPr>
            <a:endParaRPr sz="1600">
              <a:latin typeface="Arial MT"/>
              <a:cs typeface="Arial MT"/>
            </a:endParaRPr>
          </a:p>
          <a:p>
            <a:pPr marL="355600" lvl="1" indent="-342900">
              <a:lnSpc>
                <a:spcPct val="100000"/>
              </a:lnSpc>
              <a:buClr>
                <a:srgbClr val="A42F0F"/>
              </a:buClr>
              <a:buSzPct val="62500"/>
              <a:buFont typeface="Symbol"/>
              <a:buChar char=""/>
              <a:tabLst>
                <a:tab pos="355600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Rounded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Corners</a:t>
            </a:r>
            <a:r>
              <a:rPr sz="16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&amp;</a:t>
            </a:r>
            <a:r>
              <a:rPr sz="1600" b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Border:</a:t>
            </a:r>
            <a:r>
              <a:rPr sz="16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border-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radius:</a:t>
            </a:r>
            <a:r>
              <a:rPr sz="16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12px;</a:t>
            </a:r>
            <a:r>
              <a:rPr sz="16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ensures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smooth,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elegant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appearance.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6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buAutoNum type="arabicPeriod" startAt="6"/>
              <a:tabLst>
                <a:tab pos="240029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Elegant</a:t>
            </a:r>
            <a:r>
              <a:rPr sz="16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Explore</a:t>
            </a:r>
            <a:r>
              <a:rPr sz="16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Button</a:t>
            </a:r>
            <a:r>
              <a:rPr sz="16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Inside</a:t>
            </a:r>
            <a:r>
              <a:rPr sz="16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Cards</a:t>
            </a:r>
            <a:endParaRPr sz="1600">
              <a:latin typeface="Arial"/>
              <a:cs typeface="Arial"/>
            </a:endParaRPr>
          </a:p>
          <a:p>
            <a:pPr marL="355600" marR="5080" lvl="1" indent="-343535">
              <a:lnSpc>
                <a:spcPct val="106900"/>
              </a:lnSpc>
              <a:spcBef>
                <a:spcPts val="1810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5600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Gradient</a:t>
            </a:r>
            <a:r>
              <a:rPr sz="1600" b="1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Blue</a:t>
            </a:r>
            <a:r>
              <a:rPr sz="16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Background:</a:t>
            </a:r>
            <a:r>
              <a:rPr sz="16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background: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linear-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gradient(145deg,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#007bff,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#0056b3);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gives</a:t>
            </a:r>
            <a:r>
              <a:rPr sz="1600" spc="-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modern, high-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end</a:t>
            </a:r>
            <a:r>
              <a:rPr sz="1600" spc="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look.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5"/>
              </a:spcBef>
              <a:buClr>
                <a:srgbClr val="A42F0F"/>
              </a:buClr>
              <a:buFont typeface="Symbol"/>
              <a:buChar char=""/>
            </a:pPr>
            <a:endParaRPr sz="1600">
              <a:latin typeface="Arial MT"/>
              <a:cs typeface="Arial MT"/>
            </a:endParaRPr>
          </a:p>
          <a:p>
            <a:pPr marL="355600" lvl="1" indent="-342900">
              <a:lnSpc>
                <a:spcPct val="100000"/>
              </a:lnSpc>
              <a:buClr>
                <a:srgbClr val="A42F0F"/>
              </a:buClr>
              <a:buSzPct val="62500"/>
              <a:buFont typeface="Symbol"/>
              <a:buChar char=""/>
              <a:tabLst>
                <a:tab pos="355600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Hover Effects:</a:t>
            </a:r>
            <a:r>
              <a:rPr sz="1600" b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scale(1.05),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box-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shadow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changes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add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depth.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0"/>
              </a:spcBef>
              <a:buClr>
                <a:srgbClr val="A42F0F"/>
              </a:buClr>
              <a:buFont typeface="Symbol"/>
              <a:buChar char=""/>
            </a:pPr>
            <a:endParaRPr sz="1600">
              <a:latin typeface="Arial MT"/>
              <a:cs typeface="Arial MT"/>
            </a:endParaRPr>
          </a:p>
          <a:p>
            <a:pPr marL="355600" lvl="1" indent="-342900">
              <a:lnSpc>
                <a:spcPct val="100000"/>
              </a:lnSpc>
              <a:spcBef>
                <a:spcPts val="5"/>
              </a:spcBef>
              <a:buClr>
                <a:srgbClr val="A42F0F"/>
              </a:buClr>
              <a:buSzPct val="62500"/>
              <a:buFont typeface="Symbol"/>
              <a:buChar char=""/>
              <a:tabLst>
                <a:tab pos="355600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Click</a:t>
            </a:r>
            <a:r>
              <a:rPr sz="1600" b="1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Effect:</a:t>
            </a:r>
            <a:r>
              <a:rPr sz="16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scale(0.98);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gives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realistic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press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feel.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6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buAutoNum type="arabicPeriod" startAt="7"/>
              <a:tabLst>
                <a:tab pos="240029" algn="l"/>
              </a:tabLst>
            </a:pP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Pop-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Up</a:t>
            </a:r>
            <a:r>
              <a:rPr sz="16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Effects</a:t>
            </a:r>
            <a:r>
              <a:rPr sz="16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(Weather</a:t>
            </a:r>
            <a:r>
              <a:rPr sz="16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&amp;</a:t>
            </a:r>
            <a:r>
              <a:rPr sz="16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404040"/>
                </a:solidFill>
                <a:latin typeface="Arial"/>
                <a:cs typeface="Arial"/>
              </a:rPr>
              <a:t>Map)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Clr>
                <a:srgbClr val="404040"/>
              </a:buClr>
              <a:buFont typeface="Arial"/>
              <a:buAutoNum type="arabicPeriod" startAt="7"/>
            </a:pPr>
            <a:endParaRPr sz="1600">
              <a:latin typeface="Arial"/>
              <a:cs typeface="Arial"/>
            </a:endParaRPr>
          </a:p>
          <a:p>
            <a:pPr marL="355600" lvl="1" indent="-342900">
              <a:lnSpc>
                <a:spcPct val="100000"/>
              </a:lnSpc>
              <a:buClr>
                <a:srgbClr val="A42F0F"/>
              </a:buClr>
              <a:buSzPct val="62500"/>
              <a:buFont typeface="Symbol"/>
              <a:buChar char=""/>
              <a:tabLst>
                <a:tab pos="355600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Blurred</a:t>
            </a:r>
            <a:r>
              <a:rPr sz="16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Background: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backdrop-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filter: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blur(8px);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adds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elegant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glass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effect.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5"/>
              </a:spcBef>
              <a:buClr>
                <a:srgbClr val="A42F0F"/>
              </a:buClr>
              <a:buFont typeface="Symbol"/>
              <a:buChar char=""/>
            </a:pPr>
            <a:endParaRPr sz="1600">
              <a:latin typeface="Arial MT"/>
              <a:cs typeface="Arial MT"/>
            </a:endParaRPr>
          </a:p>
          <a:p>
            <a:pPr marL="355600" lvl="1" indent="-342900">
              <a:lnSpc>
                <a:spcPct val="100000"/>
              </a:lnSpc>
              <a:buClr>
                <a:srgbClr val="A42F0F"/>
              </a:buClr>
              <a:buSzPct val="62500"/>
              <a:buFont typeface="Symbol"/>
              <a:buChar char=""/>
              <a:tabLst>
                <a:tab pos="355600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Centered</a:t>
            </a:r>
            <a:r>
              <a:rPr sz="16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Popup</a:t>
            </a:r>
            <a:r>
              <a:rPr sz="1600" b="1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Animation:</a:t>
            </a:r>
            <a:r>
              <a:rPr sz="16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@keyframes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fadeIn;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enhances</a:t>
            </a:r>
            <a:r>
              <a:rPr sz="16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UX.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0"/>
              </a:spcBef>
              <a:buClr>
                <a:srgbClr val="A42F0F"/>
              </a:buClr>
              <a:buFont typeface="Symbol"/>
              <a:buChar char=""/>
            </a:pPr>
            <a:endParaRPr sz="1600">
              <a:latin typeface="Arial MT"/>
              <a:cs typeface="Arial MT"/>
            </a:endParaRPr>
          </a:p>
          <a:p>
            <a:pPr marL="355600" lvl="1" indent="-342900">
              <a:lnSpc>
                <a:spcPct val="100000"/>
              </a:lnSpc>
              <a:buClr>
                <a:srgbClr val="A42F0F"/>
              </a:buClr>
              <a:buSzPct val="62500"/>
              <a:buFont typeface="Symbol"/>
              <a:buChar char=""/>
              <a:tabLst>
                <a:tab pos="355600" algn="l"/>
              </a:tabLst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Red</a:t>
            </a:r>
            <a:r>
              <a:rPr sz="16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Close</a:t>
            </a:r>
            <a:r>
              <a:rPr sz="1600" b="1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Button: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color: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red;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transition: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0.3s;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ensures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easy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visibility.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4691" y="101600"/>
            <a:ext cx="3599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110" dirty="0">
                <a:uFill>
                  <a:solidFill>
                    <a:srgbClr val="252525"/>
                  </a:solidFill>
                </a:uFill>
              </a:rPr>
              <a:t>JAVASCRIPT</a:t>
            </a:r>
            <a:r>
              <a:rPr sz="2400" u="sng" spc="-125" dirty="0">
                <a:uFill>
                  <a:solidFill>
                    <a:srgbClr val="252525"/>
                  </a:solidFill>
                </a:uFill>
              </a:rPr>
              <a:t> </a:t>
            </a:r>
            <a:r>
              <a:rPr sz="2400" u="sng" dirty="0">
                <a:uFill>
                  <a:solidFill>
                    <a:srgbClr val="252525"/>
                  </a:solidFill>
                </a:uFill>
              </a:rPr>
              <a:t>AND</a:t>
            </a:r>
            <a:r>
              <a:rPr sz="2400" u="sng" spc="-155" dirty="0">
                <a:uFill>
                  <a:solidFill>
                    <a:srgbClr val="252525"/>
                  </a:solidFill>
                </a:uFill>
              </a:rPr>
              <a:t> </a:t>
            </a:r>
            <a:r>
              <a:rPr sz="2400" u="sng" spc="-70" dirty="0">
                <a:uFill>
                  <a:solidFill>
                    <a:srgbClr val="252525"/>
                  </a:solidFill>
                </a:uFill>
              </a:rPr>
              <a:t>REACT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35311" y="2417064"/>
            <a:ext cx="621029" cy="50825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45666" y="857758"/>
            <a:ext cx="9513570" cy="4998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2095" indent="-239395">
              <a:lnSpc>
                <a:spcPct val="100000"/>
              </a:lnSpc>
              <a:spcBef>
                <a:spcPts val="95"/>
              </a:spcBef>
              <a:buFont typeface="Calibri"/>
              <a:buAutoNum type="arabicPeriod"/>
              <a:tabLst>
                <a:tab pos="252095" algn="l"/>
              </a:tabLst>
            </a:pPr>
            <a:r>
              <a:rPr sz="1900" b="1" spc="-10" dirty="0">
                <a:solidFill>
                  <a:srgbClr val="404040"/>
                </a:solidFill>
                <a:latin typeface="Arial"/>
                <a:cs typeface="Arial"/>
              </a:rPr>
              <a:t>React-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Based</a:t>
            </a:r>
            <a:r>
              <a:rPr sz="19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Interactive</a:t>
            </a:r>
            <a:r>
              <a:rPr sz="1900" b="1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Arial"/>
                <a:cs typeface="Arial"/>
              </a:rPr>
              <a:t>Popups</a:t>
            </a:r>
            <a:endParaRPr sz="1900">
              <a:latin typeface="Arial"/>
              <a:cs typeface="Arial"/>
            </a:endParaRPr>
          </a:p>
          <a:p>
            <a:pPr marL="332740" lvl="1" indent="-320040">
              <a:lnSpc>
                <a:spcPct val="100000"/>
              </a:lnSpc>
              <a:spcBef>
                <a:spcPts val="1955"/>
              </a:spcBef>
              <a:buAutoNum type="alphaUcParenR"/>
              <a:tabLst>
                <a:tab pos="332740" algn="l"/>
              </a:tabLst>
            </a:pP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Map</a:t>
            </a:r>
            <a:r>
              <a:rPr sz="1900" b="1" spc="-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Popup</a:t>
            </a:r>
            <a:r>
              <a:rPr sz="1900" b="1" spc="-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(Displaying</a:t>
            </a:r>
            <a:r>
              <a:rPr sz="19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Arial"/>
                <a:cs typeface="Arial"/>
              </a:rPr>
              <a:t>Varkala</a:t>
            </a:r>
            <a:r>
              <a:rPr sz="19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Map):</a:t>
            </a:r>
            <a:r>
              <a:rPr sz="19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MapPopup()</a:t>
            </a:r>
            <a:r>
              <a:rPr sz="19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React</a:t>
            </a:r>
            <a:r>
              <a:rPr sz="1900" spc="-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Arial MT"/>
                <a:cs typeface="Arial MT"/>
              </a:rPr>
              <a:t>Component</a:t>
            </a:r>
            <a:endParaRPr sz="1900">
              <a:latin typeface="Arial MT"/>
              <a:cs typeface="Arial MT"/>
            </a:endParaRPr>
          </a:p>
          <a:p>
            <a:pPr marL="756285" lvl="2" indent="-286385">
              <a:lnSpc>
                <a:spcPct val="100000"/>
              </a:lnSpc>
              <a:spcBef>
                <a:spcPts val="1960"/>
              </a:spcBef>
              <a:buClr>
                <a:srgbClr val="A42F0F"/>
              </a:buClr>
              <a:buSzPct val="52631"/>
              <a:buFont typeface="Courier New"/>
              <a:buChar char="o"/>
              <a:tabLst>
                <a:tab pos="756285" algn="l"/>
              </a:tabLst>
            </a:pP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Opens</a:t>
            </a:r>
            <a:r>
              <a:rPr sz="19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9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modal</a:t>
            </a:r>
            <a:r>
              <a:rPr sz="19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with</a:t>
            </a:r>
            <a:r>
              <a:rPr sz="19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an</a:t>
            </a:r>
            <a:r>
              <a:rPr sz="19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embedded</a:t>
            </a:r>
            <a:r>
              <a:rPr sz="19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Leaflet.js</a:t>
            </a:r>
            <a:r>
              <a:rPr sz="1900" b="1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interactive</a:t>
            </a:r>
            <a:r>
              <a:rPr sz="19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Arial MT"/>
                <a:cs typeface="Arial MT"/>
              </a:rPr>
              <a:t>map.</a:t>
            </a:r>
            <a:endParaRPr sz="1900">
              <a:latin typeface="Arial MT"/>
              <a:cs typeface="Arial MT"/>
            </a:endParaRPr>
          </a:p>
          <a:p>
            <a:pPr marL="756285" marR="5080" lvl="2" indent="-287020">
              <a:lnSpc>
                <a:spcPct val="107400"/>
              </a:lnSpc>
              <a:spcBef>
                <a:spcPts val="1785"/>
              </a:spcBef>
              <a:buClr>
                <a:srgbClr val="A42F0F"/>
              </a:buClr>
              <a:buSzPct val="52631"/>
              <a:buFont typeface="Courier New"/>
              <a:buChar char="o"/>
              <a:tabLst>
                <a:tab pos="756285" algn="l"/>
                <a:tab pos="8634730" algn="l"/>
              </a:tabLst>
            </a:pP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Uses</a:t>
            </a:r>
            <a:r>
              <a:rPr sz="19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b="1" spc="-20" dirty="0">
                <a:solidFill>
                  <a:srgbClr val="404040"/>
                </a:solidFill>
                <a:latin typeface="Arial"/>
                <a:cs typeface="Arial"/>
              </a:rPr>
              <a:t>Varkala’s</a:t>
            </a:r>
            <a:r>
              <a:rPr sz="1900" b="1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coordinates</a:t>
            </a:r>
            <a:r>
              <a:rPr sz="1900" b="1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([8.7333,</a:t>
            </a:r>
            <a:r>
              <a:rPr sz="19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76.7167]).</a:t>
            </a:r>
            <a:r>
              <a:rPr sz="19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Displays</a:t>
            </a:r>
            <a:r>
              <a:rPr sz="19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9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marker</a:t>
            </a:r>
            <a:r>
              <a:rPr sz="19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spc="-50" dirty="0">
                <a:solidFill>
                  <a:srgbClr val="404040"/>
                </a:solidFill>
                <a:latin typeface="Arial MT"/>
                <a:cs typeface="Arial MT"/>
              </a:rPr>
              <a:t>(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	</a:t>
            </a:r>
            <a:r>
              <a:rPr sz="1900" spc="-35" dirty="0">
                <a:solidFill>
                  <a:srgbClr val="404040"/>
                </a:solidFill>
                <a:latin typeface="Arial MT"/>
                <a:cs typeface="Arial MT"/>
              </a:rPr>
              <a:t>Varkala,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Kerala)</a:t>
            </a:r>
            <a:r>
              <a:rPr sz="19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9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popup</a:t>
            </a:r>
            <a:r>
              <a:rPr sz="1900" b="1" spc="-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with</a:t>
            </a:r>
            <a:r>
              <a:rPr sz="19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location</a:t>
            </a:r>
            <a:r>
              <a:rPr sz="19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details.</a:t>
            </a:r>
            <a:r>
              <a:rPr sz="19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Uses</a:t>
            </a:r>
            <a:r>
              <a:rPr sz="19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useState()</a:t>
            </a:r>
            <a:r>
              <a:rPr sz="19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900" spc="-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toggle</a:t>
            </a:r>
            <a:r>
              <a:rPr sz="19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Arial MT"/>
                <a:cs typeface="Arial MT"/>
              </a:rPr>
              <a:t>visibility.</a:t>
            </a:r>
            <a:endParaRPr sz="1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70"/>
              </a:spcBef>
            </a:pP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Adds/removes</a:t>
            </a:r>
            <a:r>
              <a:rPr sz="19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event</a:t>
            </a:r>
            <a:r>
              <a:rPr sz="1900" spc="-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listeners</a:t>
            </a:r>
            <a:r>
              <a:rPr sz="1900" spc="-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Arial MT"/>
                <a:cs typeface="Arial MT"/>
              </a:rPr>
              <a:t>dynamically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90"/>
              </a:spcBef>
            </a:pPr>
            <a:endParaRPr sz="1900">
              <a:latin typeface="Arial MT"/>
              <a:cs typeface="Arial MT"/>
            </a:endParaRPr>
          </a:p>
          <a:p>
            <a:pPr marL="332740" lvl="1" indent="-320040">
              <a:lnSpc>
                <a:spcPct val="100000"/>
              </a:lnSpc>
              <a:buAutoNum type="alphaUcParenR" startAt="2"/>
              <a:tabLst>
                <a:tab pos="332740" algn="l"/>
              </a:tabLst>
            </a:pP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Weather</a:t>
            </a:r>
            <a:r>
              <a:rPr sz="1900" b="1" spc="-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Popup</a:t>
            </a:r>
            <a:r>
              <a:rPr sz="1900" b="1" spc="-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(Fetching</a:t>
            </a:r>
            <a:r>
              <a:rPr sz="1900" b="1" spc="-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Live</a:t>
            </a:r>
            <a:r>
              <a:rPr sz="19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Weather</a:t>
            </a:r>
            <a:r>
              <a:rPr sz="1900" b="1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Data)</a:t>
            </a:r>
            <a:r>
              <a:rPr sz="1900" b="1" spc="-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: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WeatherPopup()</a:t>
            </a:r>
            <a:r>
              <a:rPr sz="19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React</a:t>
            </a:r>
            <a:r>
              <a:rPr sz="1900" spc="-7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Arial MT"/>
                <a:cs typeface="Arial MT"/>
              </a:rPr>
              <a:t>Component</a:t>
            </a:r>
            <a:endParaRPr sz="1900">
              <a:latin typeface="Arial MT"/>
              <a:cs typeface="Arial MT"/>
            </a:endParaRPr>
          </a:p>
          <a:p>
            <a:pPr marL="756285" lvl="2" indent="-286385">
              <a:lnSpc>
                <a:spcPct val="100000"/>
              </a:lnSpc>
              <a:spcBef>
                <a:spcPts val="1960"/>
              </a:spcBef>
              <a:buClr>
                <a:srgbClr val="A42F0F"/>
              </a:buClr>
              <a:buSzPct val="52631"/>
              <a:buFont typeface="Courier New"/>
              <a:buChar char="o"/>
              <a:tabLst>
                <a:tab pos="756285" algn="l"/>
              </a:tabLst>
            </a:pP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Fetches</a:t>
            </a:r>
            <a:r>
              <a:rPr sz="19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Arial"/>
                <a:cs typeface="Arial"/>
              </a:rPr>
              <a:t>real-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time</a:t>
            </a:r>
            <a:r>
              <a:rPr sz="1900" b="1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weather</a:t>
            </a:r>
            <a:r>
              <a:rPr sz="1900" b="1" spc="-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data</a:t>
            </a:r>
            <a:r>
              <a:rPr sz="19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for</a:t>
            </a:r>
            <a:r>
              <a:rPr sz="19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Arial MT"/>
                <a:cs typeface="Arial MT"/>
              </a:rPr>
              <a:t>Varkala</a:t>
            </a:r>
            <a:r>
              <a:rPr sz="19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from</a:t>
            </a:r>
            <a:r>
              <a:rPr sz="19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Arial MT"/>
                <a:cs typeface="Arial MT"/>
              </a:rPr>
              <a:t>OpenWeather</a:t>
            </a:r>
            <a:r>
              <a:rPr sz="1900" spc="-10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Arial MT"/>
                <a:cs typeface="Arial MT"/>
              </a:rPr>
              <a:t>API.</a:t>
            </a:r>
            <a:endParaRPr sz="1900">
              <a:latin typeface="Arial MT"/>
              <a:cs typeface="Arial MT"/>
            </a:endParaRPr>
          </a:p>
          <a:p>
            <a:pPr marL="756285" marR="293370" lvl="2" indent="-287020">
              <a:lnSpc>
                <a:spcPct val="107400"/>
              </a:lnSpc>
              <a:spcBef>
                <a:spcPts val="1785"/>
              </a:spcBef>
              <a:buClr>
                <a:srgbClr val="A42F0F"/>
              </a:buClr>
              <a:buSzPct val="52631"/>
              <a:buFont typeface="Courier New"/>
              <a:buChar char="o"/>
              <a:tabLst>
                <a:tab pos="756285" algn="l"/>
              </a:tabLst>
            </a:pP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Uses</a:t>
            </a:r>
            <a:r>
              <a:rPr sz="19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useState()</a:t>
            </a:r>
            <a:r>
              <a:rPr sz="19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900" spc="-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store</a:t>
            </a:r>
            <a:r>
              <a:rPr sz="19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weather</a:t>
            </a:r>
            <a:r>
              <a:rPr sz="19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data</a:t>
            </a:r>
            <a:r>
              <a:rPr sz="19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9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popup</a:t>
            </a:r>
            <a:r>
              <a:rPr sz="19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state.</a:t>
            </a:r>
            <a:r>
              <a:rPr sz="19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Displays</a:t>
            </a:r>
            <a:r>
              <a:rPr sz="1900" spc="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Arial"/>
                <a:cs typeface="Arial"/>
              </a:rPr>
              <a:t>temperature, humidity,</a:t>
            </a:r>
            <a:r>
              <a:rPr sz="19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and</a:t>
            </a:r>
            <a:r>
              <a:rPr sz="1900" b="1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wind</a:t>
            </a:r>
            <a:r>
              <a:rPr sz="1900" b="1" spc="-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speed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.</a:t>
            </a:r>
            <a:r>
              <a:rPr sz="19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Uses</a:t>
            </a:r>
            <a:r>
              <a:rPr sz="19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fetch()</a:t>
            </a:r>
            <a:r>
              <a:rPr sz="19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9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make</a:t>
            </a:r>
            <a:r>
              <a:rPr sz="19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an</a:t>
            </a:r>
            <a:r>
              <a:rPr sz="1900" spc="-1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API</a:t>
            </a:r>
            <a:r>
              <a:rPr sz="19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Arial MT"/>
                <a:cs typeface="Arial MT"/>
              </a:rPr>
              <a:t>request.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4764" y="270509"/>
            <a:ext cx="8946515" cy="5000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635" indent="-241935">
              <a:lnSpc>
                <a:spcPct val="100000"/>
              </a:lnSpc>
              <a:spcBef>
                <a:spcPts val="100"/>
              </a:spcBef>
              <a:buClr>
                <a:srgbClr val="404040"/>
              </a:buClr>
              <a:buFont typeface="Calibri"/>
              <a:buAutoNum type="arabicPeriod" startAt="2"/>
              <a:tabLst>
                <a:tab pos="254635" algn="l"/>
              </a:tabLst>
            </a:pP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Event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Listeners</a:t>
            </a:r>
            <a:r>
              <a:rPr sz="18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for</a:t>
            </a:r>
            <a:r>
              <a:rPr sz="1800" b="1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Buttons</a:t>
            </a:r>
            <a:endParaRPr sz="1800">
              <a:latin typeface="Arial"/>
              <a:cs typeface="Arial"/>
            </a:endParaRPr>
          </a:p>
          <a:p>
            <a:pPr marL="354965" lvl="1" indent="-342265">
              <a:lnSpc>
                <a:spcPct val="100000"/>
              </a:lnSpc>
              <a:spcBef>
                <a:spcPts val="1955"/>
              </a:spcBef>
              <a:buClr>
                <a:srgbClr val="A42F0F"/>
              </a:buClr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Elements</a:t>
            </a:r>
            <a:r>
              <a:rPr sz="1800" b="1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Responsible: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document.querySelector()</a:t>
            </a:r>
            <a:endParaRPr sz="1800">
              <a:latin typeface="Arial MT"/>
              <a:cs typeface="Arial MT"/>
            </a:endParaRPr>
          </a:p>
          <a:p>
            <a:pPr marL="354965" lvl="1" indent="-342265">
              <a:lnSpc>
                <a:spcPct val="100000"/>
              </a:lnSpc>
              <a:spcBef>
                <a:spcPts val="1960"/>
              </a:spcBef>
              <a:buClr>
                <a:srgbClr val="A42F0F"/>
              </a:buClr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Functionality:</a:t>
            </a:r>
            <a:endParaRPr sz="1800">
              <a:latin typeface="Arial"/>
              <a:cs typeface="Arial"/>
            </a:endParaRPr>
          </a:p>
          <a:p>
            <a:pPr marL="756285" lvl="2" indent="-286385">
              <a:lnSpc>
                <a:spcPct val="100000"/>
              </a:lnSpc>
              <a:spcBef>
                <a:spcPts val="1939"/>
              </a:spcBef>
              <a:buClr>
                <a:srgbClr val="A42F0F"/>
              </a:buClr>
              <a:buSzPct val="55555"/>
              <a:buFont typeface="Courier New"/>
              <a:buChar char="o"/>
              <a:tabLst>
                <a:tab pos="756285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Listens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for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clicks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on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Map</a:t>
            </a:r>
            <a:r>
              <a:rPr sz="18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and</a:t>
            </a:r>
            <a:r>
              <a:rPr sz="18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Weather</a:t>
            </a:r>
            <a:r>
              <a:rPr sz="18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buttons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756285" lvl="2" indent="-286385">
              <a:lnSpc>
                <a:spcPct val="100000"/>
              </a:lnSpc>
              <a:spcBef>
                <a:spcPts val="1960"/>
              </a:spcBef>
              <a:buClr>
                <a:srgbClr val="A42F0F"/>
              </a:buClr>
              <a:buSzPct val="55555"/>
              <a:buFont typeface="Courier New"/>
              <a:buChar char="o"/>
              <a:tabLst>
                <a:tab pos="756285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Calls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8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respective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popup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functions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(openMap(),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fetchWeather()).</a:t>
            </a:r>
            <a:endParaRPr sz="1800">
              <a:latin typeface="Arial MT"/>
              <a:cs typeface="Arial MT"/>
            </a:endParaRPr>
          </a:p>
          <a:p>
            <a:pPr marL="266700" indent="-254000">
              <a:lnSpc>
                <a:spcPct val="100000"/>
              </a:lnSpc>
              <a:spcBef>
                <a:spcPts val="1945"/>
              </a:spcBef>
              <a:buAutoNum type="arabicPeriod" startAt="3"/>
              <a:tabLst>
                <a:tab pos="266700" algn="l"/>
              </a:tabLst>
            </a:pP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ReactDOM</a:t>
            </a:r>
            <a:r>
              <a:rPr sz="18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Rendering</a:t>
            </a:r>
            <a:r>
              <a:rPr sz="18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for</a:t>
            </a:r>
            <a:r>
              <a:rPr sz="18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Components</a:t>
            </a:r>
            <a:endParaRPr sz="1800">
              <a:latin typeface="Arial"/>
              <a:cs typeface="Arial"/>
            </a:endParaRPr>
          </a:p>
          <a:p>
            <a:pPr marL="354965" lvl="1" indent="-342265">
              <a:lnSpc>
                <a:spcPct val="100000"/>
              </a:lnSpc>
              <a:spcBef>
                <a:spcPts val="1955"/>
              </a:spcBef>
              <a:buClr>
                <a:srgbClr val="A42F0F"/>
              </a:buClr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Element</a:t>
            </a:r>
            <a:r>
              <a:rPr sz="18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Responsible: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ReactDOM.createRoot()</a:t>
            </a:r>
            <a:endParaRPr sz="1800">
              <a:latin typeface="Arial MT"/>
              <a:cs typeface="Arial MT"/>
            </a:endParaRPr>
          </a:p>
          <a:p>
            <a:pPr marL="354965" lvl="1" indent="-342265">
              <a:lnSpc>
                <a:spcPct val="100000"/>
              </a:lnSpc>
              <a:spcBef>
                <a:spcPts val="1960"/>
              </a:spcBef>
              <a:buClr>
                <a:srgbClr val="A42F0F"/>
              </a:buClr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Functionality:</a:t>
            </a:r>
            <a:endParaRPr sz="1800">
              <a:latin typeface="Arial"/>
              <a:cs typeface="Arial"/>
            </a:endParaRPr>
          </a:p>
          <a:p>
            <a:pPr marL="756285" lvl="2" indent="-286385">
              <a:lnSpc>
                <a:spcPct val="100000"/>
              </a:lnSpc>
              <a:spcBef>
                <a:spcPts val="1945"/>
              </a:spcBef>
              <a:buClr>
                <a:srgbClr val="A42F0F"/>
              </a:buClr>
              <a:buSzPct val="55555"/>
              <a:buFont typeface="Courier New"/>
              <a:buChar char="o"/>
              <a:tabLst>
                <a:tab pos="756285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Renders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WeatherPopup</a:t>
            </a:r>
            <a:r>
              <a:rPr sz="18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MapPopup</a:t>
            </a:r>
            <a:r>
              <a:rPr sz="18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components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inside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&lt;div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id="root"&gt;.</a:t>
            </a:r>
            <a:endParaRPr sz="1800">
              <a:latin typeface="Arial MT"/>
              <a:cs typeface="Arial MT"/>
            </a:endParaRPr>
          </a:p>
          <a:p>
            <a:pPr marL="756285" lvl="2" indent="-286385">
              <a:lnSpc>
                <a:spcPct val="100000"/>
              </a:lnSpc>
              <a:spcBef>
                <a:spcPts val="1955"/>
              </a:spcBef>
              <a:buClr>
                <a:srgbClr val="A42F0F"/>
              </a:buClr>
              <a:buSzPct val="55555"/>
              <a:buFont typeface="Courier New"/>
              <a:buChar char="o"/>
              <a:tabLst>
                <a:tab pos="756285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Ensures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components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are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loaded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dynamically.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A491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2633</Words>
  <Application>Microsoft Office PowerPoint</Application>
  <PresentationFormat>Widescreen</PresentationFormat>
  <Paragraphs>248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Arial MT</vt:lpstr>
      <vt:lpstr>Calibri</vt:lpstr>
      <vt:lpstr>Courier New</vt:lpstr>
      <vt:lpstr>Symbol</vt:lpstr>
      <vt:lpstr>Verdana</vt:lpstr>
      <vt:lpstr>Office Theme</vt:lpstr>
      <vt:lpstr>Web Programming Mini Project &lt;Title&gt;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My trips webpage</vt:lpstr>
      <vt:lpstr>HTML AND CSS</vt:lpstr>
      <vt:lpstr>JAVASCRIPT</vt:lpstr>
      <vt:lpstr>The use of local storage</vt:lpstr>
      <vt:lpstr>Insurance webpage</vt:lpstr>
      <vt:lpstr>PowerPoint Presentation</vt:lpstr>
      <vt:lpstr>HTML and CSS</vt:lpstr>
      <vt:lpstr>JAVASCRIPT</vt:lpstr>
      <vt:lpstr>PowerPoint Presentation</vt:lpstr>
      <vt:lpstr>GIFT CARD WEBPAGE</vt:lpstr>
      <vt:lpstr>HTML AND CSS</vt:lpstr>
      <vt:lpstr>PowerPoint Presentation</vt:lpstr>
      <vt:lpstr>PowerPoint Presentation</vt:lpstr>
      <vt:lpstr>Travel companion webpage</vt:lpstr>
      <vt:lpstr>JAVASCRIPT</vt:lpstr>
      <vt:lpstr>PowerPoint Presentation</vt:lpstr>
      <vt:lpstr>WHERE 2 GO PAGE</vt:lpstr>
      <vt:lpstr>HTML AND CSS</vt:lpstr>
      <vt:lpstr>PowerPoint Presentation</vt:lpstr>
      <vt:lpstr>DESTINATION PAGE(VARKALA)</vt:lpstr>
      <vt:lpstr>PowerPoint Presentation</vt:lpstr>
      <vt:lpstr>HTML AND CSS</vt:lpstr>
      <vt:lpstr>PowerPoint Presentation</vt:lpstr>
      <vt:lpstr>JAVASCRIPT AND REACT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Lakshmikanth S</dc:creator>
  <cp:lastModifiedBy>Porkodi Ishwarya</cp:lastModifiedBy>
  <cp:revision>2</cp:revision>
  <dcterms:created xsi:type="dcterms:W3CDTF">2026-03-29T05:57:33Z</dcterms:created>
  <dcterms:modified xsi:type="dcterms:W3CDTF">2026-03-29T06:05:08Z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2025-04-04T00:00:00Z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2026-03-29T00:00:00Z</vt:filetime>
  </property>
  <property fmtid="{D5CDD505-2E9C-101B-9397-08002B2CF9AE}" pid="5" name="Producer">
    <vt:lpwstr>Microsoft® PowerPoint® 2021</vt:lpwstr>
  </property>
</Properties>
</file>