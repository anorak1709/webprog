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9" r:id="rId15"/>
    <p:sldId id="276" r:id="rId16"/>
    <p:sldId id="277" r:id="rId17"/>
    <p:sldId id="280" r:id="rId18"/>
    <p:sldId id="283" r:id="rId19"/>
    <p:sldId id="286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761"/>
            <a:ext cx="2851530" cy="68587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23841"/>
            <a:ext cx="1742439" cy="778510"/>
          </a:xfrm>
          <a:custGeom>
            <a:avLst/>
            <a:gdLst/>
            <a:ahLst/>
            <a:cxnLst/>
            <a:rect l="l" t="t" r="r" b="b"/>
            <a:pathLst>
              <a:path w="1742439" h="778510">
                <a:moveTo>
                  <a:pt x="1345946" y="0"/>
                </a:moveTo>
                <a:lnTo>
                  <a:pt x="0" y="0"/>
                </a:lnTo>
                <a:lnTo>
                  <a:pt x="0" y="778509"/>
                </a:lnTo>
                <a:lnTo>
                  <a:pt x="1345946" y="778509"/>
                </a:lnTo>
                <a:lnTo>
                  <a:pt x="1355637" y="777704"/>
                </a:lnTo>
                <a:lnTo>
                  <a:pt x="1363567" y="775588"/>
                </a:lnTo>
                <a:lnTo>
                  <a:pt x="1369734" y="772616"/>
                </a:lnTo>
                <a:lnTo>
                  <a:pt x="1374140" y="769238"/>
                </a:lnTo>
                <a:lnTo>
                  <a:pt x="1374140" y="764539"/>
                </a:lnTo>
                <a:lnTo>
                  <a:pt x="1378839" y="764539"/>
                </a:lnTo>
                <a:lnTo>
                  <a:pt x="1735327" y="408050"/>
                </a:lnTo>
                <a:lnTo>
                  <a:pt x="1740542" y="399460"/>
                </a:lnTo>
                <a:lnTo>
                  <a:pt x="1742281" y="388667"/>
                </a:lnTo>
                <a:lnTo>
                  <a:pt x="1740542" y="376993"/>
                </a:lnTo>
                <a:lnTo>
                  <a:pt x="1735327" y="365759"/>
                </a:lnTo>
                <a:lnTo>
                  <a:pt x="1378839" y="14096"/>
                </a:lnTo>
                <a:lnTo>
                  <a:pt x="1378839" y="9397"/>
                </a:lnTo>
                <a:lnTo>
                  <a:pt x="1374140" y="9397"/>
                </a:lnTo>
                <a:lnTo>
                  <a:pt x="1369734" y="5947"/>
                </a:lnTo>
                <a:lnTo>
                  <a:pt x="1363567" y="2936"/>
                </a:lnTo>
                <a:lnTo>
                  <a:pt x="1355637" y="807"/>
                </a:lnTo>
                <a:lnTo>
                  <a:pt x="1345946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01595" y="821562"/>
            <a:ext cx="7196455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761"/>
            <a:ext cx="2851530" cy="68587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0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4691" y="96393"/>
            <a:ext cx="5813043" cy="69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2467" y="2124202"/>
            <a:ext cx="9365615" cy="3613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601595" y="821562"/>
            <a:ext cx="7196455" cy="22743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95425">
              <a:lnSpc>
                <a:spcPct val="100000"/>
              </a:lnSpc>
              <a:spcBef>
                <a:spcPts val="95"/>
              </a:spcBef>
            </a:pPr>
            <a:r>
              <a:rPr sz="4900" spc="100" dirty="0"/>
              <a:t>Personal Finance Tracker</a:t>
            </a:r>
            <a:endParaRPr sz="4900" dirty="0"/>
          </a:p>
          <a:p>
            <a:pPr marL="12700" marR="5080">
              <a:lnSpc>
                <a:spcPct val="100000"/>
              </a:lnSpc>
            </a:pPr>
            <a:r>
              <a:rPr lang="en-IN" sz="4900" spc="-415" dirty="0"/>
              <a:t>A React + Vite Web Application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6705600" y="3884167"/>
            <a:ext cx="487680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Verdana"/>
                <a:cs typeface="Verdana"/>
              </a:rPr>
              <a:t>Team Members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Verdana"/>
                <a:cs typeface="Verdana"/>
              </a:rPr>
              <a:t>React | Vite | Tailwind CSS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-225" dirty="0">
                <a:solidFill>
                  <a:srgbClr val="585858"/>
                </a:solidFill>
                <a:latin typeface="Verdana"/>
                <a:cs typeface="Verdana"/>
              </a:rPr>
              <a:t>Web Programming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DASHBOARD PAGE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99798" y="4623117"/>
            <a:ext cx="1022985" cy="516890"/>
            <a:chOff x="5499798" y="4623117"/>
            <a:chExt cx="1022985" cy="516890"/>
          </a:xfrm>
        </p:grpSpPr>
        <p:sp>
          <p:nvSpPr>
            <p:cNvPr id="5" name="object 5"/>
            <p:cNvSpPr/>
            <p:nvPr/>
          </p:nvSpPr>
          <p:spPr>
            <a:xfrm>
              <a:off x="5507735" y="4631054"/>
              <a:ext cx="1007110" cy="501015"/>
            </a:xfrm>
            <a:custGeom>
              <a:avLst/>
              <a:gdLst/>
              <a:ahLst/>
              <a:cxnLst/>
              <a:rect l="l" t="t" r="r" b="b"/>
              <a:pathLst>
                <a:path w="1007109" h="501014">
                  <a:moveTo>
                    <a:pt x="807974" y="0"/>
                  </a:moveTo>
                  <a:lnTo>
                    <a:pt x="807974" y="125222"/>
                  </a:lnTo>
                  <a:lnTo>
                    <a:pt x="0" y="125222"/>
                  </a:lnTo>
                  <a:lnTo>
                    <a:pt x="0" y="375666"/>
                  </a:lnTo>
                  <a:lnTo>
                    <a:pt x="807974" y="375666"/>
                  </a:lnTo>
                  <a:lnTo>
                    <a:pt x="807974" y="500888"/>
                  </a:lnTo>
                  <a:lnTo>
                    <a:pt x="1006983" y="250444"/>
                  </a:lnTo>
                  <a:lnTo>
                    <a:pt x="807974" y="0"/>
                  </a:lnTo>
                  <a:close/>
                </a:path>
              </a:pathLst>
            </a:custGeom>
            <a:solidFill>
              <a:srgbClr val="6AAC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7735" y="4631054"/>
              <a:ext cx="1007110" cy="501015"/>
            </a:xfrm>
            <a:custGeom>
              <a:avLst/>
              <a:gdLst/>
              <a:ahLst/>
              <a:cxnLst/>
              <a:rect l="l" t="t" r="r" b="b"/>
              <a:pathLst>
                <a:path w="1007109" h="501014">
                  <a:moveTo>
                    <a:pt x="0" y="125222"/>
                  </a:moveTo>
                  <a:lnTo>
                    <a:pt x="807974" y="125222"/>
                  </a:lnTo>
                  <a:lnTo>
                    <a:pt x="807974" y="0"/>
                  </a:lnTo>
                  <a:lnTo>
                    <a:pt x="1006983" y="250444"/>
                  </a:lnTo>
                  <a:lnTo>
                    <a:pt x="807974" y="500888"/>
                  </a:lnTo>
                  <a:lnTo>
                    <a:pt x="807974" y="375666"/>
                  </a:lnTo>
                  <a:lnTo>
                    <a:pt x="0" y="375666"/>
                  </a:lnTo>
                  <a:lnTo>
                    <a:pt x="0" y="125222"/>
                  </a:lnTo>
                  <a:close/>
                </a:path>
              </a:pathLst>
            </a:custGeom>
            <a:ln w="15874">
              <a:solidFill>
                <a:srgbClr val="28463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5A652BD-6C8D-EF62-6EDD-A4B6B789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460367"/>
            <a:ext cx="7620000" cy="3937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354" y="971499"/>
            <a:ext cx="2182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75" dirty="0">
                <a:uFill>
                  <a:solidFill>
                    <a:srgbClr val="252525"/>
                  </a:solidFill>
                </a:uFill>
              </a:rPr>
              <a:t>HTML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</a:rPr>
              <a:t>AND</a:t>
            </a:r>
            <a:r>
              <a:rPr sz="2400" u="sng" spc="-180" dirty="0">
                <a:uFill>
                  <a:solidFill>
                    <a:srgbClr val="252525"/>
                  </a:solidFill>
                </a:uFill>
              </a:rPr>
              <a:t> </a:t>
            </a:r>
            <a:r>
              <a:rPr sz="2400" u="sng" spc="-170" dirty="0">
                <a:uFill>
                  <a:solidFill>
                    <a:srgbClr val="252525"/>
                  </a:solidFill>
                </a:uFill>
              </a:rPr>
              <a:t>CSS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Dark theme layout uses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bg-dark-900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Tailwind class for a deep charcoal background throughout the app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Sidebar navigation uses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flex flex-col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with fixed width and collapsible on mobile using responsive breakpoints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GlassCard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shared component uses glassmorphism with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backdrop-filter: blur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and semi-transparent backgrounds for card containers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Summary cards display income, expense, and balance using color-coded text: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text-income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(green),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text-expense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(red), and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text-accent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(blue) for net balance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Grid layout with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grid-cols-1 lg:grid-cols-2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places charts side by side on large screens, stacking vertically on mobile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Navbar includes a month selector dropdown allowing users to switch between months for historical data view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Responsive design adapts to all screen sizes using Tailwind’s breakpoints (sm, md, lg) with overflow handling via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overflow-auto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591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2400" spc="-100" dirty="0"/>
              <a:t>JAVASCRIPT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719960" y="938021"/>
            <a:ext cx="7364730" cy="52235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SummaryCards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receives income, expense, and balance as props and renders three GlassCard components with formatted currency values using formatCurrency() utility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useFinance Hook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is called inside Dashboard to access getMonthlyTotals(), getSpentByCategory(), and activeMonth from the global FinanceContext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useMemo optimization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caches pieData and barData computations so charts only recalculate when activeMonth or transactions change, preventing unnecessary re-renders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BudgetWarnings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scans all active budgets, highlights categories where spending exceeds 80% of limit with warnings, and shows alerts when limits are exceeded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RecentTransactions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fetches the last 5 transactions for the active month, sorted by createdAt timestamp in descending order for the quick-view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498" y="228600"/>
            <a:ext cx="9537700" cy="5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0" dirty="0">
                <a:uFill>
                  <a:solidFill>
                    <a:srgbClr val="252525"/>
                  </a:solidFill>
                </a:uFill>
              </a:rPr>
              <a:t>RECHARTS DATA VISUALIZATION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1825498" y="900000"/>
            <a:ext cx="9537700" cy="5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SpendingPieChart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Uses Recharts PieChart with custom colors per spending category. pieData is derived from getSpentByCategory() and filtered to exclude zero-value entries before rendering.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IncomeExpenseBar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Renders a grouped BarChart showing income vs. expenses for the last 6 months using getLastNMonths() and getShortMonthLabel() helpers for the x-axis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TrendLineChart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Used in the Reports page with a LineChart and smooth curves. Supports 3, 6, or 12-month ranges via the range state variable toggled by the user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CategoryBreakdown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Aggregates spending across all months in the selected range and renders a horizontal bar chart sorted by highest spending category to lowest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 chart components use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ResponsiveContainer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from Recharts for automatic width/height adaptation to parent container dimensions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TRANSACTIONS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247AD-77F5-3220-38E4-1E005343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99" y="1430104"/>
            <a:ext cx="8610600" cy="4453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918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HTML</a:t>
            </a:r>
            <a:r>
              <a:rPr sz="2400" u="sng" spc="-14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and</a:t>
            </a:r>
            <a:r>
              <a:rPr sz="2400" u="sng" spc="-7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25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CSS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3207" y="845946"/>
            <a:ext cx="8698230" cy="44780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TransactionList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renders each transaction as a row with category badge, description, date, and amount. Income entries show green amounts; expenses show red.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Modal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reusable overlay with fixed positioning and a semi-transparent backdrop, used for Add/Edit transaction forms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TransactionForm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input fields for description, amount, type (income/expense), category, and date. Controlled inputs with React state for Add and Edit modes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TransactionFilters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includes a search bar and two dropdowns for type filter (income/expense/all) and category filter, styled with Tailwind focus rings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ConfirmDialog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accessible confirmation dialog before deleting a transaction, with Cancel and Confirm buttons styled distinctly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EmptyState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displays a friendly illustration and message when no transactions match the current filter criteria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273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100"/>
              </a:spcBef>
            </a:pPr>
            <a:r>
              <a:rPr sz="2400" u="sng" spc="-40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JAVASCRIPT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616" y="1116025"/>
            <a:ext cx="9371330" cy="4857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addTransaction(data)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generates a unique ID via crypto.randomUUID() and a createdAt timestamp, then merges with form data and appends to the transactions array in context state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updateTransaction(id, patch)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uses Array.map() to find the matching transaction by ID and spread-merges the patch object, preserving all other fields immutably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deleteTransaction(id)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filters out the transaction with matching ID from state. A ConfirmDialog is shown before calling this function to prevent accidental deletion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Modal state management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useState controls modalOpen (boolean) and editingTxn (null or transaction object). openAdd() clears editingTxn before opening; openEdit(txn) sets it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handleSubmit(data)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checks if editingTxn exists to decide between updateTransaction() and addTransaction(), then closes the modal after successful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060" y="476250"/>
            <a:ext cx="9490710" cy="245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FILTERING AND SEARCH LOGIC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useMemo filtered array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transactions are first filtered by typeFilter, then categoryFilter, then searched by lowercase description/category match. Final result is sorted by createdAt descending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getMonthlyTransactions(activeMonth)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scoped to the selected month by filtering transactions where date startsWith the YYYY-MM key, ensuring cross-month isolation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Search input uses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trim()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and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toLowerCase()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to normalize both query and target fields for case-insensitive fuzzy matching across description and category fields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All filter state (search, categoryFilter, typeFilter) is maintained in local component state and does not affect the global context, keeping the filter UI ephemeral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0295" y="456057"/>
            <a:ext cx="314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252525"/>
                  </a:solidFill>
                </a:uFill>
              </a:rPr>
              <a:t>BUDGET PAGE</a:t>
            </a:r>
            <a:endParaRPr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9725E-977D-2AC1-549D-CFBCB1EA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81200"/>
            <a:ext cx="6248400" cy="3223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198" y="271017"/>
            <a:ext cx="5500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/>
              <a:t>HTML</a:t>
            </a:r>
            <a:r>
              <a:rPr sz="2400" spc="-180" dirty="0"/>
              <a:t> </a:t>
            </a:r>
            <a:r>
              <a:rPr sz="2400" dirty="0"/>
              <a:t>AND</a:t>
            </a:r>
            <a:r>
              <a:rPr sz="2400" spc="-185" dirty="0"/>
              <a:t> </a:t>
            </a:r>
            <a:r>
              <a:rPr sz="2400" spc="-170" dirty="0"/>
              <a:t>CSS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671320" y="1069593"/>
            <a:ext cx="9508490" cy="532066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BudgetForm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category dropdown and number input for setting monthly spending limits. The submit button is styled with an accent gradient and disabled if fields are empty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BudgetOverview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lists all budget categories with ProgressBar showing spend percentage. Bars turn yellow at 80% and red at 100% to signal budget status visually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ProgressBar Component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shared UI element using a filled div whose width is set via inline style (percent). Colors are determined dynamically based on the ratio of spent to limit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Header with month label uses </a:t>
            </a: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getMonthLabel(activeMonth)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 to display the human-readable month name (e.g. “March 2026”) and shows count of active budget categories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Warning text in BudgetForm uses muted gray color (text-gray-500) with small font size (text-xs) to indicate threshold behavior without overwhelming the form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90677"/>
            <a:ext cx="9713595" cy="644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404040"/>
                </a:solidFill>
              </a:rPr>
              <a:t>JAVASCRIPT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setBudget(category, month, limit)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: checks if a budget for the same category+month already exists; updates the limit if found or appends a new budget entry if not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deleteBudget(category, month)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: filters out the budget entry matching both category and month, allowing users to remove a specific budget without affecting others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getBudgetStatus(spent, limit)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: utility in budgetHelpers.js that returns “ok”, “warning”, or “exceeded” based on the percentage of budget consumed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calcSpentPerCategory(transactions, month)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: reduces the expense transactions for a given month into a {category: totalAmount} map used by both BudgetOverview and BudgetWarnings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getMonthBudgets(month)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: filters the global budgets array to return only entries for the active month, driving what the Budget page renders in its overview section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REPORTS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D84CE-3C4A-6CD2-4F97-42D7F4BC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691" y="1524000"/>
            <a:ext cx="8153400" cy="422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152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HTML</a:t>
            </a:r>
            <a:r>
              <a:rPr spc="-225" dirty="0"/>
              <a:t> </a:t>
            </a:r>
            <a:r>
              <a:rPr dirty="0"/>
              <a:t>AND</a:t>
            </a:r>
            <a:r>
              <a:rPr spc="-225" dirty="0"/>
              <a:t> </a:t>
            </a:r>
            <a:r>
              <a:rPr spc="-36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8544" y="952246"/>
            <a:ext cx="8754110" cy="55581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Range Selector Buttons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three styled buttons (3M, 6M, 12M) with active state using bg-accent/20 background and border highlight; inactive buttons use muted bg-white/5 styling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Aggregate Summary Cards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three GlassCards display total income, expenses, and savings over the selected range with uppercase tracking-wider labels and bold currency amounts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Monthly Summary Table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data table with Month, Income, Expenses, Savings columns. Each row has alternating hover background for readability, with a copy-to-clipboard button in the header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TrendLineChart Section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placed in a full-width GlassCard container below summary cards. Uses Recharts LineChart with smooth curves and two data series (income/expense) with distinct colors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CategoryBreakdown Section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beside the trend chart in a two-column layout on large screens. Shows aggregated category spending across the selected date range sorted highest to lowest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1733" y="96393"/>
            <a:ext cx="1228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JAVASCRIPT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1733" y="600836"/>
            <a:ext cx="9733915" cy="59747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trendData computation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maps over the months array (generated by getLastNMonths) and calls getMonthlyTotals() for each to build the chart data array with {month, income, expense} shape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aggregateTotals computation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iterates all months in range and sums income and expense values. Savings is computed as income minus expense and shown as the third aggregate card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categoryData aggregation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loops over all months calling getSpentByCategory(), merges results into a running totals object, then converts to array and sorts descending by amount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summaryRows computation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maps months to rows with {month, income, expense, savings} shape using getMonthLabel() for the human-readable month name in the table display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AutoNum type="arabicPeriod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Range state (useState)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clicking a range button updates the range string (“3”, “6”, or “12”), which triggers recalculation of months via useMemo and cascades through all derived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327" y="439673"/>
            <a:ext cx="9012555" cy="5031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404040"/>
                </a:solidFill>
              </a:rPr>
              <a:t>EXPORT AND COPY FUNCTIONALITY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handleCopy()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constructs a tab-delimited string with a header row (Month, Income, Expenses, Savings) followed by data rows from summaryRows, then writes it to the clipboard via navigator.clipboard.writeText()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Copied state feedback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useState(copied) toggles the button icon between Copy and Check after successful copy, auto-reverting after 2 seconds using setTimeout()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getLastNMonths(n, activeMonth)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date helper utility that computes an array of N consecutive YYYY-MM keys ending at the current activeMonth, used to drive all range-based computations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 tab-delimited output format is compatible with spreadsheet applications like Microsoft Excel and Google Sheets, enabling users to paste data directly for further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779" y="2008632"/>
            <a:ext cx="585978" cy="4808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7794" y="493267"/>
            <a:ext cx="7701280" cy="186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404040"/>
                </a:solidFill>
              </a:rPr>
              <a:t>CONTEXT API &amp; STATE MANAGEMENT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FinanceContext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created with createContext(null) and exported from FinanceContext.jsx. Provides global access to transactions, budgets, activeMonth, and all CRUD functions without prop-drilling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FinanceProvider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wraps the entire app in main.jsx, initializing transactions and budgets from localStorage via useLocalStorage hook, and managing activeMonth with useState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useCallback optimization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all context functions (addTransaction, updateTransaction, deleteTransaction, setBudget, deleteBudget) are wrapped in useCallback to maintain stable references and prevent unnecessary re-renders in consumers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Context value object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exposes transactions, budgets, activeMonth, setActiveMonth, and all CRUD functions plus derived getters: getMonthlyTransactions, getSpentByCategory, getMonthlyTotals, getMonthBudgets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8000" y="250012"/>
            <a:ext cx="5500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CUSTOM HOOKS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660398" y="674623"/>
            <a:ext cx="9632315" cy="598360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useLocalStorage(key, initialValue)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generic hook that wraps useState, reading from localStorage on initialization and writing back with every state update using JSON.stringify/JSON.parse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Persistence behavior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data survives page refresh and browser closure. Keys “finance_transactions” and “finance_budgets” are used in FinanceProvider to store all app data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useFinance()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a thin wrapper around useContext(FinanceContext) that throws an error if used outside FinanceProvider, ensuring safe context consumption with a clear error message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getCurrentMonthKey()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date utility returning the current month as “YYYY-MM” format, used as the default activeMonth when the app first loads in the FinanceProvider</a:t>
            </a:r>
          </a:p>
          <a:p>
            <a:pPr marL="342900" indent="-342900">
              <a:lnSpc>
                <a:spcPct val="100000"/>
              </a:lnSpc>
              <a:spcBef>
                <a:spcPts val="665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Arial MT"/>
                <a:cs typeface="Arial MT"/>
              </a:rPr>
              <a:t>formatCurrency(amount)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: utility in formatCurrency.js that formats numeric values using Intl.NumberFormat with currency style, used across all monetary display in the 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4764" y="270509"/>
            <a:ext cx="8946515" cy="500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404040"/>
                </a:solidFill>
              </a:rPr>
              <a:t>TECHNOLOGY STACK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React 19 + Vite 8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the core UI framework with HMR-powered development server. Components use functional style with hooks (useState, useMemo, useCallback, useContext)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React Router DOM v7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client-side routing with Routes, Route, and Navigate components. Four main routes: / (Dashboard), /transactions, /budget, /reports with wildcard fallback redirect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Tailwind CSS v4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utility-first CSS with dark theme color tokens (bg-dark-900, text-income, text-expense, text-accent) and responsive grid layouts across all pages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Recharts v3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data visualization library providing PieChart, BarChart, and LineChart with responsive containers. Used in Dashboard and Reports pages for financial data display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A42F0F"/>
              </a:buClr>
              <a:buChar char="•"/>
              <a:tabLst>
                <a:tab pos="3429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Lucide React + LocalStorage API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: Lucide provides consistent SVG icons (Plus, Copy, Check, Trash) across the UI; LocalStorage persists all transaction and budget data client-side without a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A491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1969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MT</vt:lpstr>
      <vt:lpstr>Calibri</vt:lpstr>
      <vt:lpstr>Verdana</vt:lpstr>
      <vt:lpstr>Office Theme</vt:lpstr>
      <vt:lpstr>Personal Finance Tracker A React + Vite Web Application</vt:lpstr>
      <vt:lpstr>DASHBOARD PAGE</vt:lpstr>
      <vt:lpstr>HTML AND CSS</vt:lpstr>
      <vt:lpstr>JAVASCRIPT</vt:lpstr>
      <vt:lpstr>RECHARTS DATA VISUALIZATION</vt:lpstr>
      <vt:lpstr>TRANSACTIONS PAGE</vt:lpstr>
      <vt:lpstr>HTML and CSS</vt:lpstr>
      <vt:lpstr>JAVASCRIPT</vt:lpstr>
      <vt:lpstr>PowerPoint Presentation</vt:lpstr>
      <vt:lpstr>BUDGET PAGE</vt:lpstr>
      <vt:lpstr>HTML AND CSS</vt:lpstr>
      <vt:lpstr>PowerPoint Presentation</vt:lpstr>
      <vt:lpstr>REPORTS PAGE</vt:lpstr>
      <vt:lpstr>HTML AND CSS</vt:lpstr>
      <vt:lpstr>JAVASCRIPT</vt:lpstr>
      <vt:lpstr>PowerPoint Presentation</vt:lpstr>
      <vt:lpstr>PowerPoint Presentation</vt:lpstr>
      <vt:lpstr>CUSTOM HOOKS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Lakshmikanth S</dc:creator>
  <cp:lastModifiedBy>kartik khera</cp:lastModifiedBy>
  <cp:revision>3</cp:revision>
  <dcterms:created xsi:type="dcterms:W3CDTF">2026-03-29T05:57:33Z</dcterms:created>
  <dcterms:modified xsi:type="dcterms:W3CDTF">2026-03-30T08:14:57Z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2026-03-29T00:00:00Z</vt:filetime>
  </property>
  <property fmtid="{D5CDD505-2E9C-101B-9397-08002B2CF9AE}" pid="5" name="Producer">
    <vt:lpwstr>Microsoft® PowerPoint® 2021</vt:lpwstr>
  </property>
</Properties>
</file>